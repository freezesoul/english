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P01: 封面 - 全网最全英语单词词库 (English Vocabulary Vault)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演讲提纲与导言：</a:t>
            </a:r>
          </a:p>
          <a:p>
            <a:pPr/>
            <a:r>
              <a:rPr lang="zh-CN" dirty="0"/>
              <a:t>• 各位朋友大家好！今天向大家隆重介绍 GitHub 极高人气的开源数字词汇宝库——English Vocabulary Vault (全网最全英语单词词库)。</a:t>
            </a:r>
          </a:p>
          <a:p>
            <a:pPr/>
            <a:r>
              <a:rPr lang="zh-CN" dirty="0"/>
              <a:t>• 无论你是处于中小学教材同步阶段、冲刺高考，还是备战四六级、专四专八、考研考博，亦或计划出国攻克雅思托福 GRE，乃至职场开发者进阶计算机专业英语，本项目都提供了开箱即用的优质生词母本。</a:t>
            </a:r>
          </a:p>
          <a:p>
            <a:pPr/>
            <a:r>
              <a:rPr lang="zh-CN" dirty="0"/>
              <a:t>• 本套 PPTX 采用独具匠心的 Risograph 孔版印刷工艺与 DIY 独立海报艺术 设计，全面呈现词库的体系架构、核心专项、名师讲义资源与高效工具导入方法。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P02: 痛点与项目使命 (The Why &amp; The Mission)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每个认真学英语的人都经历过生词本的折磨：从百度网盘、各类论坛下载的词书，音标往往是乱码方框；格式缺失严重；而且全是 A-Z 排序，背到 abandon 就心生放弃。</a:t>
            </a:r>
          </a:p>
          <a:p>
            <a:pPr/>
            <a:r>
              <a:rPr lang="zh-CN" dirty="0"/>
              <a:t>• 更恶劣的是，很多机构把公共考纲词汇打包后加塞广告、设卡收费，消耗学习者大量时间。</a:t>
            </a:r>
          </a:p>
          <a:p>
            <a:pPr/>
            <a:r>
              <a:rPr lang="zh-CN" dirty="0"/>
              <a:t>• English Vocabulary Vault 的使命就是打破这一怪圈：打造一个全网收录最全（960+本）、规范 IPA 音标、双轨乱序正序、永久免费开源的数字化词汇基建。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P03: 核心数据大字报 (Key Metrics &amp; Stats)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这张幻灯片用四大震撼数据，直观体现本项目的体量与品质：</a:t>
            </a:r>
          </a:p>
          <a:p>
            <a:pPr/>
            <a:r>
              <a:rPr lang="zh-CN" dirty="0"/>
              <a:t>1. 960+ 本词书：分为 19 个大类，是 GitHub 上收录最全的仓库；</a:t>
            </a:r>
          </a:p>
          <a:p>
            <a:pPr/>
            <a:r>
              <a:rPr lang="zh-CN" dirty="0"/>
              <a:t>2. 100 万+ 规范词条：全部采用真实 IPA 国际音标，权威释义，告别错字；</a:t>
            </a:r>
          </a:p>
          <a:p>
            <a:pPr/>
            <a:r>
              <a:rPr lang="zh-CN" dirty="0"/>
              <a:t>3. 108 篇新概念名师讲义合订本：绝非单纯静态词表，更有 47.4MB 课文解析与学术语法拆解；</a:t>
            </a:r>
          </a:p>
          <a:p>
            <a:pPr/>
            <a:r>
              <a:rPr lang="zh-CN" dirty="0"/>
              <a:t>4. 0 元永久开源免费：严格遵守 CC BY-NC-SA 4.0 协议，绝无后置收费或强制关注公众号套路。</a:t>
            </a:r>
          </a:p>
          <a:p>
            <a:pPr/>
            <a:r>
              <a:rPr lang="zh-CN" dirty="0"/>
              <a:t>• 此外，重点备考词库更提供独特的正序/乱序双版本，帮助考生真正建立生词反射。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P04: 词库全景图谱：阶梯分层 (Vocabulary Pyramid)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这张图谱展示了词库从基础到高阶的 5 大梯队：</a:t>
            </a:r>
          </a:p>
          <a:p>
            <a:pPr/>
            <a:r>
              <a:rPr lang="zh-CN" dirty="0"/>
              <a:t>1. K-12 阶段 (384本)：涵盖全国所有主流教材版本（人教/外研/苏教等）各学期词库及中高考冲刺；</a:t>
            </a:r>
          </a:p>
          <a:p>
            <a:pPr/>
            <a:r>
              <a:rPr lang="zh-CN" dirty="0"/>
              <a:t>2. 大学通识与四六级 (188本)：大学公共英语与 CET-4/6、TEM-4/8 专业八级大纲；</a:t>
            </a:r>
          </a:p>
          <a:p>
            <a:pPr/>
            <a:r>
              <a:rPr lang="zh-CN" dirty="0"/>
              <a:t>3. 考研与考博 (205本)：拥有全网最深的考研专题库（190本），含考研红宝书与真题高频；</a:t>
            </a:r>
          </a:p>
          <a:p>
            <a:pPr/>
            <a:r>
              <a:rPr lang="zh-CN" dirty="0"/>
              <a:t>4. 出国留学 (142本)：雅思、托福、GRE、GMAT 等核心真题词汇；</a:t>
            </a:r>
          </a:p>
          <a:p>
            <a:pPr/>
            <a:r>
              <a:rPr lang="zh-CN" dirty="0"/>
              <a:t>5. 职场与技术进阶 (50本+讲义)：新概念英语 1-4 册、计算机 IT 英语、商务英语 BEC。</a:t>
            </a:r>
          </a:p>
          <a:p>
            <a:pPr/>
            <a:r>
              <a:rPr lang="zh-CN" dirty="0"/>
              <a:t>• 各层级互不脱节，构建起完整的终身英语学习链条。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P05: 出国双雄：雅思与托福核心专项 (IELTS &amp; TOEFL Focus)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出国类考试（雅思与托福）强调跨学科与高频学术应用，普通词表无法解决问题。</a:t>
            </a:r>
          </a:p>
          <a:p>
            <a:pPr/>
            <a:r>
              <a:rPr lang="zh-CN" dirty="0"/>
              <a:t>• 雅思科学 4 步流：</a:t>
            </a:r>
          </a:p>
          <a:p>
            <a:pPr/>
            <a:r>
              <a:rPr lang="zh-CN" dirty="0"/>
              <a:t>1. 基础 3800 扫盲；</a:t>
            </a:r>
          </a:p>
          <a:p>
            <a:pPr/>
            <a:r>
              <a:rPr lang="zh-CN" dirty="0"/>
              <a:t>2. 王陆 807 系列专项攻坚听写拼写反应；</a:t>
            </a:r>
          </a:p>
          <a:p>
            <a:pPr/>
            <a:r>
              <a:rPr lang="zh-CN" dirty="0"/>
              <a:t>3. 词以类记按 Topic 进行写作/口语语块输入；</a:t>
            </a:r>
          </a:p>
          <a:p>
            <a:pPr/>
            <a:r>
              <a:rPr lang="zh-CN" dirty="0"/>
              <a:t>4. 剑桥真词汇（剑 4-17）真题实战。</a:t>
            </a:r>
          </a:p>
          <a:p>
            <a:pPr/>
            <a:r>
              <a:rPr lang="zh-CN" dirty="0"/>
              <a:t>• 托福学术背景矩阵：</a:t>
            </a:r>
          </a:p>
          <a:p>
            <a:pPr/>
            <a:r>
              <a:rPr lang="zh-CN" dirty="0"/>
              <a:t>针对托福网考高频的天文、生物、地质、考古等复杂学术讲座背景词，专项突破，配合 21 天突击与乱序版，确保在考场听力中建立即时肌肉记忆。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P06: 镇馆之宝：新概念英语深度研习套装 (New Concept Suite)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新概念英语是公认的最经典英语教材，但网上资源大多只有单词或者扫描版课本。</a:t>
            </a:r>
          </a:p>
          <a:p>
            <a:pPr/>
            <a:r>
              <a:rPr lang="zh-CN" dirty="0"/>
              <a:t>• 本项目提供了行业最完整的数字化研习套装：</a:t>
            </a:r>
          </a:p>
          <a:p>
            <a:pPr/>
            <a:r>
              <a:rPr lang="zh-CN" dirty="0"/>
              <a:t>1. 全套词表：经典版 1-4 册 + 青少版全套 12 本（入门 A/B 到 5A/5B）；</a:t>
            </a:r>
          </a:p>
          <a:p>
            <a:pPr/>
            <a:r>
              <a:rPr lang="zh-CN" dirty="0"/>
              <a:t>2. 第三册 60 篇名师独立讲义，并附赠 47.4 MB 合订版 PDF，含语法长难句深度拆解；</a:t>
            </a:r>
          </a:p>
          <a:p>
            <a:pPr/>
            <a:r>
              <a:rPr lang="zh-CN" dirty="0"/>
              <a:t>3. 第四册 48 篇名师讲义，涵盖高阶英美文风赏析、学术仿写与复杂语法解析。</a:t>
            </a:r>
          </a:p>
          <a:p>
            <a:pPr/>
            <a:r>
              <a:rPr lang="zh-CN" dirty="0"/>
              <a:t>• 这不仅是一个生词库，更是能够伴随你从零基础跨越到学术英语大师的研习宝典！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P07: 极客专属：计算机与 IT 程序员英语专项 (Tech Special)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程序员面对的最常见痛点：看英文报错两眼一抹黑，查英文官方文档靠网页翻译，变量命名用拼音或者中式英语。</a:t>
            </a:r>
          </a:p>
          <a:p>
            <a:pPr/>
            <a:r>
              <a:rPr lang="zh-CN" dirty="0"/>
              <a:t>• 本仓库专门设立了 9.扇贝英语（IT） 专区：</a:t>
            </a:r>
          </a:p>
          <a:p>
            <a:pPr/>
            <a:r>
              <a:rPr lang="zh-CN" dirty="0"/>
              <a:t>1. 计算机专业英语：涵盖体系结构、操作系统、计算机网络底层术语；</a:t>
            </a:r>
          </a:p>
          <a:p>
            <a:pPr/>
            <a:r>
              <a:rPr lang="zh-CN" dirty="0"/>
              <a:t>2. Python 与 Java 通关词表：涵盖语法关键字、异常类型与常用 API 规范命名；</a:t>
            </a:r>
          </a:p>
          <a:p>
            <a:pPr/>
            <a:r>
              <a:rPr lang="zh-CN" dirty="0"/>
              <a:t>3. NAWL 学术词汇表：阅读 AI 顶会论文与外企英文技术文档的利器。</a:t>
            </a:r>
          </a:p>
          <a:p>
            <a:pPr/>
            <a:r>
              <a:rPr lang="zh-CN" dirty="0"/>
              <a:t>• 真正助力工程师实现出海求职、阅读开源源码与撰写高水准技术文档。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P08: 软件生态无缝导入指南 (Software Import Guide)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词库建得再好，能导入自己的背词软件才是关键！</a:t>
            </a:r>
          </a:p>
          <a:p>
            <a:pPr/>
            <a:r>
              <a:rPr lang="zh-CN" dirty="0"/>
              <a:t>• 本仓库从立项之初就严格制定了 Schema 数据规范：</a:t>
            </a:r>
          </a:p>
          <a:p>
            <a:pPr/>
            <a:r>
              <a:rPr lang="zh-CN" dirty="0"/>
              <a:t>• `Word`（单词原型）</a:t>
            </a:r>
          </a:p>
          <a:p>
            <a:pPr/>
            <a:r>
              <a:rPr lang="zh-CN" dirty="0"/>
              <a:t>• `Phonetic`（标准 IPA 音标）</a:t>
            </a:r>
          </a:p>
          <a:p>
            <a:pPr/>
            <a:r>
              <a:rPr lang="zh-CN" dirty="0"/>
              <a:t>• `Definition`（词性+权威中文释义）</a:t>
            </a:r>
          </a:p>
          <a:p>
            <a:pPr/>
            <a:r>
              <a:rPr lang="zh-CN" dirty="0"/>
              <a:t>• `Sentence`（经典例句）</a:t>
            </a:r>
          </a:p>
          <a:p>
            <a:pPr/>
            <a:r>
              <a:rPr lang="zh-CN" dirty="0"/>
              <a:t>• 这使得所有词书具有极高兼容性：</a:t>
            </a:r>
          </a:p>
          <a:p>
            <a:pPr/>
            <a:r>
              <a:rPr lang="zh-CN" dirty="0"/>
              <a:t>1. Anki：保存为 UTF-8 CSV，三字段映射即可开始艾宾浩斯间隔记忆；</a:t>
            </a:r>
          </a:p>
          <a:p>
            <a:pPr/>
            <a:r>
              <a:rPr lang="zh-CN" dirty="0"/>
              <a:t>2. Quizlet：剪贴板批量粘贴两列，自动生成移动端翻转卡片；</a:t>
            </a:r>
          </a:p>
          <a:p>
            <a:pPr/>
            <a:r>
              <a:rPr lang="zh-CN" dirty="0"/>
              <a:t>3. 欧路词典：原生支持 Excel 导入生词本，跨设备随时云同步。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P09: 路线图与社区协作 (Roadmap &amp; Community)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zh-CN" dirty="0"/>
              <a:t>• 开源项目的生命力来自于持续的演进与全球社区的参与。</a:t>
            </a:r>
          </a:p>
          <a:p>
            <a:pPr/>
            <a:r>
              <a:rPr lang="zh-CN" dirty="0"/>
              <a:t>• Roadmap 进展：</a:t>
            </a:r>
          </a:p>
          <a:p>
            <a:pPr/>
            <a:r>
              <a:rPr lang="zh-CN" dirty="0"/>
              <a:t>• 已完成 960+ 词书全景索引、新概念 108 篇讲义集成和多语言文档；</a:t>
            </a:r>
          </a:p>
          <a:p>
            <a:pPr/>
            <a:r>
              <a:rPr lang="zh-CN" dirty="0"/>
              <a:t>• 接下来将推出自动化 `.apkg` 编译工具、大模型 AI 词库校正工程以及纯前端 Web 检索器。</a:t>
            </a:r>
          </a:p>
          <a:p>
            <a:pPr/>
            <a:r>
              <a:rPr lang="zh-CN" dirty="0"/>
              <a:t>• 贡献指南：欢迎全球英语学习者与开发者提交 PR，纠正音标、补充真题词汇，共同维护属于全世界学习者的词库宝库。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P10: 结语与致敬 (Outro &amp; Call to Action)</a:t>
            </a:r>
          </a:p>
          <a:p>
            <a:pPr/>
            <a:endParaRPr lang="zh-CN" dirty="0"/>
          </a:p>
          <a:p>
            <a:pPr/>
            <a:r>
              <a:rPr lang="zh-CN" dirty="0"/>
              <a:t>演讲提纲：</a:t>
            </a:r>
          </a:p>
          <a:p>
            <a:pPr/>
            <a:r>
              <a:rPr lang="en-US" dirty="0"/>
              <a:t>• “Empower Your Learning Journey — One Word at a Time.”</a:t>
            </a:r>
          </a:p>
          <a:p>
            <a:pPr/>
            <a:r>
              <a:rPr lang="zh-CN" dirty="0"/>
              <a:t>• 词汇是掌握任何一门语言的基石，而优质、干净的工具是通往成功的捷径。</a:t>
            </a:r>
          </a:p>
          <a:p>
            <a:pPr/>
            <a:r>
              <a:rPr lang="zh-CN" dirty="0"/>
              <a:t>• 感谢项目发起人 Ringi 以及所有为词库勘误、上传资料的社区贡献者！</a:t>
            </a:r>
          </a:p>
          <a:p>
            <a:pPr/>
            <a:r>
              <a:rPr lang="zh-CN" dirty="0"/>
              <a:t>• 如果这个词库仓库帮助到了你的备考或学习，欢迎访问 GitHub 给仓库点亮一颗珍贵的 Star ⭐ 支持我们！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glish_vault_ris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glish_vault_ris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-banner-zone"/>
          <p:cNvGrpSpPr/>
          <p:nvPr/>
        </p:nvGrpSpPr>
        <p:grpSpPr>
          <a:xfrm>
            <a:off x="381000" y="190500"/>
            <a:ext cx="11391900" cy="438150"/>
            <a:chOff x="381000" y="190500"/>
            <a:chExt cx="11391900" cy="438150"/>
          </a:xfrm>
        </p:grpSpPr>
        <p:sp>
          <p:nvSpPr>
            <p:cNvPr id="2" name="Rectangle 2"/>
            <p:cNvSpPr/>
            <p:nvPr/>
          </p:nvSpPr>
          <p:spPr>
            <a:xfrm>
              <a:off x="419100" y="228600"/>
              <a:ext cx="11353800" cy="400050"/>
            </a:xfrm>
            <a:prstGeom prst="rect">
              <a:avLst/>
            </a:prstGeom>
            <a:solidFill>
              <a:srgbClr val="FF4765">
                <a:alpha val="85000"/>
              </a:srgbClr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190500"/>
              <a:ext cx="11353800" cy="400050"/>
            </a:xfrm>
            <a:prstGeom prst="rect">
              <a:avLst/>
            </a:prstGeom>
            <a:solidFill>
              <a:srgbClr val="181A2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568806" y="334328"/>
              <a:ext cx="8978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225" dirty="0">
                  <a:solidFill>
                    <a:srgbClr val="FFA800"/>
                  </a:solidFill>
                  <a:latin typeface="Courier New"/>
                  <a:ea typeface="Courier New"/>
                  <a:cs typeface="Courier New"/>
                </a:rPr>
                <a:t>★ SPECIAL ARCHIVE EDITION · ISSUED FOR GLOBAL LEARNERS · OPEN REPOSITORY ★</a:t>
              </a:r>
            </a:p>
          </p:txBody>
        </p:sp>
      </p:grpSp>
      <p:grpSp>
        <p:nvGrpSpPr>
          <p:cNvPr id="29" name="main-hero-zone"/>
          <p:cNvGrpSpPr/>
          <p:nvPr/>
        </p:nvGrpSpPr>
        <p:grpSpPr>
          <a:xfrm>
            <a:off x="762000" y="952500"/>
            <a:ext cx="10668000" cy="4238625"/>
            <a:chOff x="762000" y="952500"/>
            <a:chExt cx="10668000" cy="4238625"/>
          </a:xfrm>
        </p:grpSpPr>
        <p:grpSp>
          <p:nvGrpSpPr>
            <p:cNvPr id="15" name="hero-number-box"/>
            <p:cNvGrpSpPr/>
            <p:nvPr/>
          </p:nvGrpSpPr>
          <p:grpSpPr>
            <a:xfrm>
              <a:off x="762000" y="952500"/>
              <a:ext cx="3000375" cy="4238625"/>
              <a:chOff x="762000" y="952500"/>
              <a:chExt cx="3000375" cy="42386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09625" y="1000125"/>
                <a:ext cx="2952750" cy="41910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952500"/>
                <a:ext cx="2952750" cy="4191000"/>
              </a:xfrm>
              <a:prstGeom prst="rect">
                <a:avLst/>
              </a:prstGeom>
              <a:solidFill>
                <a:srgbClr val="006B7B"/>
              </a:solidFill>
              <a:ln w="38100">
                <a:solidFill>
                  <a:srgbClr val="181A24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762000" y="1714500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28575">
                <a:solidFill>
                  <a:srgbClr val="FAF6EE"/>
                </a:solidFill>
                <a:custDash>
                  <a:ds d="266667" sp="200000"/>
                </a:custDash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96213" y="1285875"/>
                <a:ext cx="22843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spc="150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COLLECTION SCALE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59888" y="2078355"/>
                <a:ext cx="2556975" cy="15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100" b="1" dirty="0">
                    <a:solidFill>
                      <a:srgbClr val="FFA800"/>
                    </a:solidFill>
                    <a:latin typeface="+mj-lt"/>
                    <a:ea typeface="+mj-ea"/>
                    <a:cs typeface="+mj-cs"/>
                  </a:rPr>
                  <a:t>960+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42850" y="3202305"/>
                <a:ext cx="179105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本 权 威 词 书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047750" y="3810000"/>
                <a:ext cx="2381250" cy="476250"/>
              </a:xfrm>
              <a:prstGeom prst="rect">
                <a:avLst/>
              </a:prstGeom>
              <a:solidFill>
                <a:srgbClr val="FAF6EE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325" y="3985260"/>
                <a:ext cx="24700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81A24"/>
                    </a:solidFill>
                    <a:latin typeface="Courier New"/>
                    <a:ea typeface="Courier New"/>
                    <a:cs typeface="Courier New"/>
                  </a:rPr>
                  <a:t>[ 100% CC BY-NC-SA 4.0 ]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61938" y="4641056"/>
                <a:ext cx="17528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涵盖基础教材至考博/学术</a:t>
                </a:r>
              </a:p>
            </p:txBody>
          </p:sp>
        </p:grpSp>
        <p:grpSp>
          <p:nvGrpSpPr>
            <p:cNvPr id="28" name="hero-main-title"/>
            <p:cNvGrpSpPr/>
            <p:nvPr/>
          </p:nvGrpSpPr>
          <p:grpSpPr>
            <a:xfrm>
              <a:off x="4076700" y="952500"/>
              <a:ext cx="7353300" cy="4191000"/>
              <a:chOff x="4076700" y="952500"/>
              <a:chExt cx="7353300" cy="4191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095750" y="952500"/>
                <a:ext cx="2095500" cy="323850"/>
              </a:xfrm>
              <a:prstGeom prst="rect">
                <a:avLst/>
              </a:prstGeom>
              <a:solidFill>
                <a:srgbClr val="FFA800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91228" y="1042035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数字化词汇新基建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117086" y="1567815"/>
                <a:ext cx="6513591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b="1" spc="75" dirty="0">
                    <a:solidFill>
                      <a:srgbClr val="FF4765"/>
                    </a:solidFill>
                    <a:latin typeface="+mj-lt"/>
                    <a:ea typeface="+mj-ea"/>
                    <a:cs typeface="+mj-cs"/>
                  </a:rPr>
                  <a:t>ENGLISH VOCABULARY VAULT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078986" y="1529715"/>
                <a:ext cx="6513591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b="1" spc="75" dirty="0">
                    <a:solidFill>
                      <a:srgbClr val="181A24"/>
                    </a:solidFill>
                    <a:latin typeface="+mj-lt"/>
                    <a:ea typeface="+mj-ea"/>
                    <a:cs typeface="+mj-cs"/>
                  </a:rPr>
                  <a:t>ENGLISH VOCABULARY VAULT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076700" y="2148840"/>
                <a:ext cx="6681597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spc="150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全网最全英语单词词库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133850" y="3086100"/>
                <a:ext cx="7296150" cy="53340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095750" y="3048000"/>
                <a:ext cx="7296150" cy="533400"/>
              </a:xfrm>
              <a:prstGeom prst="rect">
                <a:avLst/>
              </a:prstGeom>
              <a:solidFill>
                <a:srgbClr val="FFA800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277868" y="3212782"/>
                <a:ext cx="70972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国际标准音标 (IPA) · 权威释义 · Anki / Quizlet / 欧路词典完美兼容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4095750" y="3857625"/>
                <a:ext cx="7296150" cy="12858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152900" y="3914775"/>
                <a:ext cx="114300" cy="1171575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69892" y="4092892"/>
                <a:ext cx="28061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⚡ 彻底终结词汇资源碎片化现状：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470654" y="4442460"/>
                <a:ext cx="6039612" cy="5394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zh-CN" sz="12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从小学教材到考博学术，从雅思托福到程序员专业英语；正序/乱序双版本打破记忆惯性，</a:t>
                </a:r>
                <a:br/>
                <a:r>
                  <a:rPr lang="zh-CN" sz="12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更深度附赠新概念英语 108 篇名师讲义合订本与课文精析，开箱即用，永久开源。</a:t>
                </a:r>
              </a:p>
            </p:txBody>
          </p:sp>
        </p:grpSp>
      </p:grpSp>
      <p:grpSp>
        <p:nvGrpSpPr>
          <p:cNvPr id="50" name="bottom-stamps-zone"/>
          <p:cNvGrpSpPr/>
          <p:nvPr/>
        </p:nvGrpSpPr>
        <p:grpSpPr>
          <a:xfrm>
            <a:off x="762000" y="5476875"/>
            <a:ext cx="10620375" cy="904875"/>
            <a:chOff x="762000" y="5476875"/>
            <a:chExt cx="10620375" cy="904875"/>
          </a:xfrm>
        </p:grpSpPr>
        <p:grpSp>
          <p:nvGrpSpPr>
            <p:cNvPr id="34" name="stamp-box-1"/>
            <p:cNvGrpSpPr/>
            <p:nvPr/>
          </p:nvGrpSpPr>
          <p:grpSpPr>
            <a:xfrm>
              <a:off x="762000" y="5476875"/>
              <a:ext cx="2476500" cy="904875"/>
              <a:chOff x="762000" y="5476875"/>
              <a:chExt cx="2476500" cy="90487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5476875"/>
                <a:ext cx="2476500" cy="904875"/>
              </a:xfrm>
              <a:prstGeom prst="rect">
                <a:avLst/>
              </a:prstGeom>
              <a:solidFill>
                <a:srgbClr val="FAF6EE"/>
              </a:solidFill>
              <a:ln w="28575">
                <a:solidFill>
                  <a:srgbClr val="006B7B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38200" y="5553075"/>
                <a:ext cx="2324100" cy="752475"/>
              </a:xfrm>
              <a:prstGeom prst="rect">
                <a:avLst/>
              </a:prstGeom>
              <a:noFill/>
              <a:ln w="9525">
                <a:solidFill>
                  <a:srgbClr val="006B7B"/>
                </a:solidFill>
                <a:prstDash val="dash"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95556" y="5724525"/>
                <a:ext cx="18093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960+ 本 权 威 词 书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01242" y="6058852"/>
                <a:ext cx="1198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81A24"/>
                    </a:solidFill>
                    <a:latin typeface="Courier New"/>
                    <a:ea typeface="Microsoft YaHei"/>
                    <a:cs typeface="Courier New"/>
                  </a:rPr>
                  <a:t>19+ 完整分类大纲</a:t>
                </a:r>
              </a:p>
            </p:txBody>
          </p:sp>
        </p:grpSp>
        <p:grpSp>
          <p:nvGrpSpPr>
            <p:cNvPr id="39" name="stamp-box-2"/>
            <p:cNvGrpSpPr/>
            <p:nvPr/>
          </p:nvGrpSpPr>
          <p:grpSpPr>
            <a:xfrm>
              <a:off x="3476625" y="5476875"/>
              <a:ext cx="2476500" cy="904875"/>
              <a:chOff x="3476625" y="5476875"/>
              <a:chExt cx="2476500" cy="904875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476625" y="5476875"/>
                <a:ext cx="2476500" cy="904875"/>
              </a:xfrm>
              <a:prstGeom prst="rect">
                <a:avLst/>
              </a:prstGeom>
              <a:solidFill>
                <a:srgbClr val="FAF6EE"/>
              </a:solidFill>
              <a:ln w="28575">
                <a:solidFill>
                  <a:srgbClr val="FF4765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552825" y="5553075"/>
                <a:ext cx="2324100" cy="752475"/>
              </a:xfrm>
              <a:prstGeom prst="rect">
                <a:avLst/>
              </a:prstGeom>
              <a:noFill/>
              <a:ln w="9525">
                <a:solidFill>
                  <a:srgbClr val="FF4765"/>
                </a:solidFill>
                <a:prstDash val="dash"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911041" y="5724525"/>
                <a:ext cx="16076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IPA 国际标准音标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16921" y="6058852"/>
                <a:ext cx="13959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81A24"/>
                    </a:solidFill>
                    <a:latin typeface="Courier New"/>
                    <a:ea typeface="Microsoft YaHei"/>
                    <a:cs typeface="Courier New"/>
                  </a:rPr>
                  <a:t>杜绝乱码 · 权威规范</a:t>
                </a:r>
              </a:p>
            </p:txBody>
          </p:sp>
        </p:grpSp>
        <p:grpSp>
          <p:nvGrpSpPr>
            <p:cNvPr id="44" name="stamp-box-3"/>
            <p:cNvGrpSpPr/>
            <p:nvPr/>
          </p:nvGrpSpPr>
          <p:grpSpPr>
            <a:xfrm>
              <a:off x="6191250" y="5476875"/>
              <a:ext cx="2476500" cy="904875"/>
              <a:chOff x="6191250" y="5476875"/>
              <a:chExt cx="2476500" cy="904875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191250" y="5476875"/>
                <a:ext cx="2476500" cy="904875"/>
              </a:xfrm>
              <a:prstGeom prst="rect">
                <a:avLst/>
              </a:prstGeom>
              <a:solidFill>
                <a:srgbClr val="FAF6EE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267450" y="5553075"/>
                <a:ext cx="2324100" cy="752475"/>
              </a:xfrm>
              <a:prstGeom prst="rect">
                <a:avLst/>
              </a:prstGeom>
              <a:noFill/>
              <a:ln w="9525">
                <a:solidFill>
                  <a:srgbClr val="181A24"/>
                </a:solidFill>
                <a:prstDash val="dash"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648983" y="5724525"/>
                <a:ext cx="15610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ANKI / QUIZLET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17411" y="60588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06B7B"/>
                    </a:solidFill>
                    <a:latin typeface="Courier New"/>
                    <a:ea typeface="Microsoft YaHei"/>
                    <a:cs typeface="Courier New"/>
                  </a:rPr>
                  <a:t>科学艾宾浩斯间隔记忆</a:t>
                </a:r>
              </a:p>
            </p:txBody>
          </p:sp>
        </p:grpSp>
        <p:grpSp>
          <p:nvGrpSpPr>
            <p:cNvPr id="49" name="stamp-box-4"/>
            <p:cNvGrpSpPr/>
            <p:nvPr/>
          </p:nvGrpSpPr>
          <p:grpSpPr>
            <a:xfrm>
              <a:off x="8905875" y="5476875"/>
              <a:ext cx="2476500" cy="904875"/>
              <a:chOff x="8905875" y="5476875"/>
              <a:chExt cx="2476500" cy="904875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905875" y="5476875"/>
                <a:ext cx="2476500" cy="904875"/>
              </a:xfrm>
              <a:prstGeom prst="rect">
                <a:avLst/>
              </a:prstGeom>
              <a:solidFill>
                <a:srgbClr val="FAF6EE"/>
              </a:solidFill>
              <a:ln w="28575">
                <a:solidFill>
                  <a:srgbClr val="FFA800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982075" y="5553075"/>
                <a:ext cx="2324100" cy="752475"/>
              </a:xfrm>
              <a:prstGeom prst="rect">
                <a:avLst/>
              </a:prstGeom>
              <a:noFill/>
              <a:ln w="9525">
                <a:solidFill>
                  <a:srgbClr val="FFA800"/>
                </a:solidFill>
                <a:prstDash val="dash"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244479" y="5724525"/>
                <a:ext cx="1799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100% 永久开源免费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155188" y="6058852"/>
                <a:ext cx="19778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4765"/>
                    </a:solidFill>
                    <a:latin typeface="Courier New"/>
                    <a:ea typeface="Courier New"/>
                    <a:cs typeface="Courier New"/>
                  </a:rPr>
                  <a:t>GitHub @lilinji/English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6934962" cy="1147001"/>
            <a:chOff x="557022" y="285750"/>
            <a:chExt cx="6934962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095500" cy="285750"/>
            </a:xfrm>
            <a:prstGeom prst="rect">
              <a:avLst/>
            </a:prstGeom>
            <a:solidFill>
              <a:srgbClr val="FF476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1791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AF6EE"/>
                  </a:solidFill>
                  <a:latin typeface="Courier New"/>
                  <a:ea typeface="Courier New"/>
                  <a:cs typeface="Courier New"/>
                </a:rPr>
                <a:t>CHAPTER 01 / ORIGIN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69349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告别碎片与套路：构建数字化词汇新基建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6B7B"/>
                  </a:solidFill>
                  <a:latin typeface="+mn-lt"/>
                  <a:ea typeface="+mn-ea"/>
                  <a:cs typeface="+mn-cs"/>
                </a:rPr>
                <a:t>为什么我们需要一个统一规范、真正完整且开箱即用的开源词库？</a:t>
              </a:r>
            </a:p>
          </p:txBody>
        </p:sp>
      </p:grpSp>
      <p:grpSp>
        <p:nvGrpSpPr>
          <p:cNvPr id="51" name="body-comparison-zone"/>
          <p:cNvGrpSpPr/>
          <p:nvPr/>
        </p:nvGrpSpPr>
        <p:grpSpPr>
          <a:xfrm>
            <a:off x="571500" y="1619250"/>
            <a:ext cx="11049000" cy="4705350"/>
            <a:chOff x="571500" y="1619250"/>
            <a:chExt cx="11049000" cy="4705350"/>
          </a:xfrm>
        </p:grpSpPr>
        <p:grpSp>
          <p:nvGrpSpPr>
            <p:cNvPr id="28" name="left-pain-points"/>
            <p:cNvGrpSpPr/>
            <p:nvPr/>
          </p:nvGrpSpPr>
          <p:grpSpPr>
            <a:xfrm>
              <a:off x="571500" y="1619250"/>
              <a:ext cx="5276850" cy="4705350"/>
              <a:chOff x="571500" y="1619250"/>
              <a:chExt cx="5276850" cy="4705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5238750" cy="466725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5238750" cy="4667250"/>
              </a:xfrm>
              <a:prstGeom prst="rect">
                <a:avLst/>
              </a:prstGeom>
              <a:solidFill>
                <a:srgbClr val="FFE8EC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57250" y="1857375"/>
                <a:ext cx="2857500" cy="381000"/>
              </a:xfrm>
              <a:prstGeom prst="rect">
                <a:avLst/>
              </a:prstGeom>
              <a:solidFill>
                <a:srgbClr val="FF4765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64684" y="1968818"/>
                <a:ext cx="24426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⚠️ 传统网络生词本的三大泥潭</a:t>
                </a:r>
              </a:p>
            </p:txBody>
          </p:sp>
          <p:grpSp>
            <p:nvGrpSpPr>
              <p:cNvPr id="15" name="pain-item-1"/>
              <p:cNvGrpSpPr/>
              <p:nvPr/>
            </p:nvGrpSpPr>
            <p:grpSpPr>
              <a:xfrm>
                <a:off x="847725" y="2428875"/>
                <a:ext cx="4284345" cy="736759"/>
                <a:chOff x="847725" y="2428875"/>
                <a:chExt cx="4284345" cy="736759"/>
              </a:xfrm>
            </p:grpSpPr>
            <p:sp>
              <p:nvSpPr>
                <p:cNvPr id="11" name="Ellipse 11"/>
                <p:cNvSpPr/>
                <p:nvPr/>
              </p:nvSpPr>
              <p:spPr>
                <a:xfrm>
                  <a:off x="847725" y="2466975"/>
                  <a:ext cx="304800" cy="304800"/>
                </a:xfrm>
                <a:prstGeom prst="ellipse">
                  <a:avLst/>
                </a:prstGeom>
                <a:solidFill>
                  <a:srgbClr val="181A24"/>
                </a:solidFill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947383" y="25469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FE8EC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278255" y="2428875"/>
                  <a:ext cx="183261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格式残缺与乱码连篇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280160" y="2736056"/>
                  <a:ext cx="3851910" cy="4295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120" dirty="0">
                      <a:solidFill>
                        <a:srgbClr val="5A6072"/>
                      </a:solidFill>
                      <a:latin typeface="+mn-lt"/>
                      <a:ea typeface="+mn-ea"/>
                      <a:cs typeface="+mn-cs"/>
                    </a:rPr>
                    <a:t>音标字符集未标准化，导入手机词典后满屏方框与问号乱码；</a:t>
                  </a:r>
                  <a:br/>
                  <a:r>
                    <a:rPr lang="zh-CN" sz="1120" dirty="0">
                      <a:solidFill>
                        <a:srgbClr val="5A6072"/>
                      </a:solidFill>
                      <a:latin typeface="+mn-lt"/>
                      <a:ea typeface="+mn-ea"/>
                      <a:cs typeface="+mn-cs"/>
                    </a:rPr>
                    <a:t>排版错列错行，严重破坏背词心流与学习节奏。</a:t>
                  </a:r>
                </a:p>
              </p:txBody>
            </p:sp>
          </p:grpSp>
          <p:grpSp>
            <p:nvGrpSpPr>
              <p:cNvPr id="20" name="pain-item-2"/>
              <p:cNvGrpSpPr/>
              <p:nvPr/>
            </p:nvGrpSpPr>
            <p:grpSpPr>
              <a:xfrm>
                <a:off x="847725" y="3381375"/>
                <a:ext cx="4319905" cy="736759"/>
                <a:chOff x="847725" y="3381375"/>
                <a:chExt cx="4319905" cy="736759"/>
              </a:xfrm>
            </p:grpSpPr>
            <p:sp>
              <p:nvSpPr>
                <p:cNvPr id="16" name="Ellipse 16"/>
                <p:cNvSpPr/>
                <p:nvPr/>
              </p:nvSpPr>
              <p:spPr>
                <a:xfrm>
                  <a:off x="847725" y="3419475"/>
                  <a:ext cx="304800" cy="304800"/>
                </a:xfrm>
                <a:prstGeom prst="ellipse">
                  <a:avLst/>
                </a:prstGeom>
                <a:solidFill>
                  <a:srgbClr val="181A24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47383" y="34994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FE8EC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278255" y="3381375"/>
                  <a:ext cx="294574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死板正序引发“abandon 综合征”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280160" y="3688556"/>
                  <a:ext cx="3887470" cy="4295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120" dirty="0">
                      <a:solidFill>
                        <a:srgbClr val="5A6072"/>
                      </a:solidFill>
                      <a:latin typeface="+mn-lt"/>
                      <a:ea typeface="+mn-ea"/>
                      <a:cs typeface="+mn-cs"/>
                    </a:rPr>
                    <a:t>只有 A-Z 机械正序，产生强烈的首字母记忆依赖与审美疲劳；</a:t>
                  </a:r>
                  <a:br/>
                  <a:r>
                    <a:rPr lang="zh-CN" sz="1120" dirty="0">
                      <a:solidFill>
                        <a:srgbClr val="5A6072"/>
                      </a:solidFill>
                      <a:latin typeface="+mn-lt"/>
                      <a:ea typeface="+mn-ea"/>
                      <a:cs typeface="+mn-cs"/>
                    </a:rPr>
                    <a:t>背到 C 就放弃，无法在真实语境与考试中实现瞬时唤醒。</a:t>
                  </a:r>
                </a:p>
              </p:txBody>
            </p:sp>
          </p:grpSp>
          <p:grpSp>
            <p:nvGrpSpPr>
              <p:cNvPr id="25" name="pain-item-3"/>
              <p:cNvGrpSpPr/>
              <p:nvPr/>
            </p:nvGrpSpPr>
            <p:grpSpPr>
              <a:xfrm>
                <a:off x="847725" y="4333875"/>
                <a:ext cx="4277233" cy="736759"/>
                <a:chOff x="847725" y="4333875"/>
                <a:chExt cx="4277233" cy="736759"/>
              </a:xfrm>
            </p:grpSpPr>
            <p:sp>
              <p:nvSpPr>
                <p:cNvPr id="21" name="Ellipse 21"/>
                <p:cNvSpPr/>
                <p:nvPr/>
              </p:nvSpPr>
              <p:spPr>
                <a:xfrm>
                  <a:off x="847725" y="4371975"/>
                  <a:ext cx="304800" cy="304800"/>
                </a:xfrm>
                <a:prstGeom prst="ellipse">
                  <a:avLst/>
                </a:prstGeom>
                <a:solidFill>
                  <a:srgbClr val="181A24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47383" y="445198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FE8EC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78255" y="4333875"/>
                  <a:ext cx="264033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商业机构套路截流与私有壁垒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280160" y="4641056"/>
                  <a:ext cx="3844798" cy="4295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120" dirty="0">
                      <a:solidFill>
                        <a:srgbClr val="5A6072"/>
                      </a:solidFill>
                      <a:latin typeface="+mn-lt"/>
                      <a:ea typeface="+mn-ea"/>
                      <a:cs typeface="+mn-cs"/>
                    </a:rPr>
                    <a:t>给半本词库设卡收费，或使用私有加密数据包强制绑定 App；</a:t>
                  </a:r>
                  <a:br/>
                  <a:r>
                    <a:rPr lang="zh-CN" sz="1120" dirty="0">
                      <a:solidFill>
                        <a:srgbClr val="5A6072"/>
                      </a:solidFill>
                      <a:latin typeface="+mn-lt"/>
                      <a:ea typeface="+mn-ea"/>
                      <a:cs typeface="+mn-cs"/>
                    </a:rPr>
                    <a:t>学习者花费数小时找资源，往往落入营销群与付费圈套。</a:t>
                  </a:r>
                </a:p>
              </p:txBody>
            </p:sp>
          </p:grpSp>
          <p:sp>
            <p:nvSpPr>
              <p:cNvPr id="26" name="Line 26"/>
              <p:cNvSpPr/>
              <p:nvPr/>
            </p:nvSpPr>
            <p:spPr>
              <a:xfrm>
                <a:off x="857250" y="54292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FF4765"/>
                </a:solidFill>
                <a:custDash>
                  <a:ds d="300000" sp="200000"/>
                </a:custDash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10738" y="5720239"/>
                <a:ext cx="386502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“找词书 2 小时，排版 1 小时，实际背词 10 分钟”</a:t>
                </a:r>
              </a:p>
            </p:txBody>
          </p:sp>
        </p:grpSp>
        <p:grpSp>
          <p:nvGrpSpPr>
            <p:cNvPr id="50" name="right-solutions"/>
            <p:cNvGrpSpPr/>
            <p:nvPr/>
          </p:nvGrpSpPr>
          <p:grpSpPr>
            <a:xfrm>
              <a:off x="6286500" y="1619250"/>
              <a:ext cx="5334000" cy="4705350"/>
              <a:chOff x="6286500" y="1619250"/>
              <a:chExt cx="5334000" cy="4705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324600" y="1657350"/>
                <a:ext cx="5295900" cy="46672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286500" y="1619250"/>
                <a:ext cx="5295900" cy="4667250"/>
              </a:xfrm>
              <a:prstGeom prst="rect">
                <a:avLst/>
              </a:prstGeom>
              <a:solidFill>
                <a:srgbClr val="E1F2F5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572250" y="1857375"/>
                <a:ext cx="3238500" cy="381000"/>
              </a:xfrm>
              <a:prstGeom prst="rect">
                <a:avLst/>
              </a:prstGeom>
              <a:solidFill>
                <a:srgbClr val="006B7B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686889" y="1968818"/>
                <a:ext cx="3009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✨ VOCABULARY VAULT 的破局之道</a:t>
                </a:r>
              </a:p>
            </p:txBody>
          </p:sp>
          <p:grpSp>
            <p:nvGrpSpPr>
              <p:cNvPr id="37" name="solution-item-1"/>
              <p:cNvGrpSpPr/>
              <p:nvPr/>
            </p:nvGrpSpPr>
            <p:grpSpPr>
              <a:xfrm>
                <a:off x="6572250" y="2428875"/>
                <a:ext cx="4680204" cy="736759"/>
                <a:chOff x="6572250" y="2428875"/>
                <a:chExt cx="4680204" cy="736759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6572250" y="2476500"/>
                  <a:ext cx="304800" cy="30480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622380" y="2540318"/>
                  <a:ext cx="20454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993255" y="2428875"/>
                  <a:ext cx="317039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极致完整：960+ 权威词书全景收录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995160" y="2736056"/>
                  <a:ext cx="4257294" cy="4295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12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覆盖全国中小学教材、四六级、专八、考研、雅思、托福、IT专业，</a:t>
                  </a:r>
                  <a:br/>
                  <a:r>
                    <a:rPr lang="zh-CN" sz="112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可能是全网分类最详尽、覆盖学段最广泛的词汇总母本。</a:t>
                  </a:r>
                </a:p>
              </p:txBody>
            </p:sp>
          </p:grpSp>
          <p:grpSp>
            <p:nvGrpSpPr>
              <p:cNvPr id="42" name="solution-item-2"/>
              <p:cNvGrpSpPr/>
              <p:nvPr/>
            </p:nvGrpSpPr>
            <p:grpSpPr>
              <a:xfrm>
                <a:off x="6572250" y="3381375"/>
                <a:ext cx="4417060" cy="736759"/>
                <a:chOff x="6572250" y="3381375"/>
                <a:chExt cx="4417060" cy="736759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6572250" y="3429000"/>
                  <a:ext cx="304800" cy="30480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622380" y="3492818"/>
                  <a:ext cx="20454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993255" y="3381375"/>
                  <a:ext cx="3758055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严苛标准化：规范 IPA 音标 + Excel/TXT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995160" y="3688556"/>
                  <a:ext cx="3994150" cy="4295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12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全库统一采用国际标准音标字符集，权威释义，严防乱码；</a:t>
                  </a:r>
                  <a:br/>
                  <a:r>
                    <a:rPr lang="zh-CN" sz="112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重点词书同步提供正序与乱序双版本，彻底打破位置记忆依赖。</a:t>
                  </a:r>
                </a:p>
              </p:txBody>
            </p:sp>
          </p:grpSp>
          <p:grpSp>
            <p:nvGrpSpPr>
              <p:cNvPr id="47" name="solution-item-3"/>
              <p:cNvGrpSpPr/>
              <p:nvPr/>
            </p:nvGrpSpPr>
            <p:grpSpPr>
              <a:xfrm>
                <a:off x="6572250" y="4333875"/>
                <a:ext cx="4452620" cy="736759"/>
                <a:chOff x="6572250" y="4333875"/>
                <a:chExt cx="4452620" cy="736759"/>
              </a:xfrm>
            </p:grpSpPr>
            <p:sp>
              <p:nvSpPr>
                <p:cNvPr id="43" name="Rectangle 43"/>
                <p:cNvSpPr/>
                <p:nvPr/>
              </p:nvSpPr>
              <p:spPr>
                <a:xfrm>
                  <a:off x="6572250" y="4381500"/>
                  <a:ext cx="304800" cy="30480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622380" y="4445318"/>
                  <a:ext cx="20454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993255" y="4333875"/>
                  <a:ext cx="324612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真正纯粹开源：零门槛直导主流神器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995160" y="4641056"/>
                  <a:ext cx="4029710" cy="4295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12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直导 Anki、Quizlet、欧路词典，永久免费且无任何商业套路；</a:t>
                  </a:r>
                  <a:br/>
                  <a:r>
                    <a:rPr lang="zh-CN" sz="112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更附带 108 篇新概念英语名师讲义深度精析，超越单纯生词本！</a:t>
                  </a:r>
                </a:p>
              </p:txBody>
            </p:sp>
          </p:grpSp>
          <p:sp>
            <p:nvSpPr>
              <p:cNvPr id="48" name="Line 48"/>
              <p:cNvSpPr/>
              <p:nvPr/>
            </p:nvSpPr>
            <p:spPr>
              <a:xfrm>
                <a:off x="6572250" y="54292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19050">
                <a:solidFill>
                  <a:srgbClr val="006B7B"/>
                </a:solidFill>
                <a:custDash>
                  <a:ds d="300000" sp="200000"/>
                </a:custDash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942969" y="5720239"/>
                <a:ext cx="383056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“一次下载，终身受用；让学习者聚焦于记忆本身”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6934962" cy="1147001"/>
            <a:chOff x="557022" y="285750"/>
            <a:chExt cx="6934962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006B7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2073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AF6EE"/>
                  </a:solidFill>
                  <a:latin typeface="Courier New"/>
                  <a:ea typeface="Courier New"/>
                  <a:cs typeface="Courier New"/>
                </a:rPr>
                <a:t>CHAPTER 02 / HARD DATA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69349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硬核数据大字报：不可替代的体量与纵深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5531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4765"/>
                  </a:solidFill>
                  <a:latin typeface="+mn-lt"/>
                  <a:ea typeface="+mn-ea"/>
                  <a:cs typeface="+mn-cs"/>
                </a:rPr>
                <a:t>覆盖 19+ 核心专项分类，构建起由数十万级规范词条组成的知识矩阵</a:t>
              </a:r>
            </a:p>
          </p:txBody>
        </p:sp>
      </p:grpSp>
      <p:grpSp>
        <p:nvGrpSpPr>
          <p:cNvPr id="47" name="stats-grid-zone"/>
          <p:cNvGrpSpPr/>
          <p:nvPr/>
        </p:nvGrpSpPr>
        <p:grpSpPr>
          <a:xfrm>
            <a:off x="571500" y="1619250"/>
            <a:ext cx="11049000" cy="3181350"/>
            <a:chOff x="571500" y="1619250"/>
            <a:chExt cx="11049000" cy="3181350"/>
          </a:xfrm>
        </p:grpSpPr>
        <p:grpSp>
          <p:nvGrpSpPr>
            <p:cNvPr id="16" name="stat-tile-1"/>
            <p:cNvGrpSpPr/>
            <p:nvPr/>
          </p:nvGrpSpPr>
          <p:grpSpPr>
            <a:xfrm>
              <a:off x="571500" y="1619250"/>
              <a:ext cx="2571750" cy="3181350"/>
              <a:chOff x="571500" y="1619250"/>
              <a:chExt cx="2571750" cy="3181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2533650" cy="31432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2533650" cy="3143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809750"/>
                <a:ext cx="1333500" cy="285750"/>
              </a:xfrm>
              <a:prstGeom prst="rect">
                <a:avLst/>
              </a:prstGeom>
              <a:solidFill>
                <a:srgbClr val="FFA800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55429" y="1904524"/>
                <a:ext cx="9466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TOTAL BOOKS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63035" y="2336482"/>
                <a:ext cx="1950579" cy="1190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150" b="1" dirty="0">
                    <a:solidFill>
                      <a:srgbClr val="006B7B"/>
                    </a:solidFill>
                    <a:latin typeface="+mj-lt"/>
                    <a:ea typeface="+mj-ea"/>
                    <a:cs typeface="+mj-cs"/>
                  </a:rPr>
                  <a:t>960+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4698" y="3298508"/>
                <a:ext cx="140725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本 权 威 词 书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762000" y="3714750"/>
                <a:ext cx="2152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2650" h="9525">
                    <a:moveTo>
                      <a:pt x="0" y="0"/>
                    </a:moveTo>
                    <a:lnTo>
                      <a:pt x="2152650" y="0"/>
                    </a:lnTo>
                  </a:path>
                </a:pathLst>
              </a:custGeom>
              <a:noFill/>
              <a:ln w="9525">
                <a:solidFill>
                  <a:srgbClr val="006B7B"/>
                </a:solidFill>
                <a:prstDash val="dash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76763" y="3934778"/>
                <a:ext cx="15231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涵盖 19 大主流体系分类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4885" y="4172902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从中小学到学术专业全覆盖</a:t>
                </a:r>
              </a:p>
            </p:txBody>
          </p:sp>
        </p:grpSp>
        <p:grpSp>
          <p:nvGrpSpPr>
            <p:cNvPr id="26" name="stat-tile-2"/>
            <p:cNvGrpSpPr/>
            <p:nvPr/>
          </p:nvGrpSpPr>
          <p:grpSpPr>
            <a:xfrm>
              <a:off x="3333750" y="1619250"/>
              <a:ext cx="2571750" cy="3181350"/>
              <a:chOff x="3333750" y="1619250"/>
              <a:chExt cx="2571750" cy="3181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371850" y="1657350"/>
                <a:ext cx="2533650" cy="314325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333750" y="1619250"/>
                <a:ext cx="2533650" cy="3143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524250" y="1809750"/>
                <a:ext cx="1333500" cy="285750"/>
              </a:xfrm>
              <a:prstGeom prst="rect">
                <a:avLst/>
              </a:prstGeom>
              <a:solidFill>
                <a:srgbClr val="FF4765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684747" y="1904524"/>
                <a:ext cx="10125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TOTAL ENTRIES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24980" y="2433638"/>
                <a:ext cx="2351189" cy="1019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5250" b="1" dirty="0">
                    <a:solidFill>
                      <a:srgbClr val="FF4765"/>
                    </a:solidFill>
                    <a:latin typeface="+mj-lt"/>
                    <a:ea typeface="+mj-ea"/>
                    <a:cs typeface="+mj-cs"/>
                  </a:rPr>
                  <a:t>100W+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50902" y="3298508"/>
                <a:ext cx="16993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规 范 标 准 词 条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3524250" y="3714750"/>
                <a:ext cx="2152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2650" h="9525">
                    <a:moveTo>
                      <a:pt x="0" y="0"/>
                    </a:moveTo>
                    <a:lnTo>
                      <a:pt x="2152650" y="0"/>
                    </a:lnTo>
                  </a:path>
                </a:pathLst>
              </a:custGeom>
              <a:noFill/>
              <a:ln w="9525">
                <a:solidFill>
                  <a:srgbClr val="FF4765"/>
                </a:solidFill>
                <a:prstDash val="dash"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962095" y="3934778"/>
                <a:ext cx="12769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全量国际音标 (IPA)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817810" y="4172902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权威词性与精确中文释义</a:t>
                </a:r>
              </a:p>
            </p:txBody>
          </p:sp>
        </p:grpSp>
        <p:grpSp>
          <p:nvGrpSpPr>
            <p:cNvPr id="36" name="stat-tile-3"/>
            <p:cNvGrpSpPr/>
            <p:nvPr/>
          </p:nvGrpSpPr>
          <p:grpSpPr>
            <a:xfrm>
              <a:off x="6082243" y="1619250"/>
              <a:ext cx="2585507" cy="3181350"/>
              <a:chOff x="6082243" y="1619250"/>
              <a:chExt cx="2585507" cy="31813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34100" y="1657350"/>
                <a:ext cx="2533650" cy="3143250"/>
              </a:xfrm>
              <a:prstGeom prst="rect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096000" y="1619250"/>
                <a:ext cx="2533650" cy="3143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286500" y="1809750"/>
                <a:ext cx="1333500" cy="285750"/>
              </a:xfrm>
              <a:prstGeom prst="rect">
                <a:avLst/>
              </a:prstGeom>
              <a:solidFill>
                <a:srgbClr val="006B7B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381133" y="1904524"/>
                <a:ext cx="114423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EXCLUSIVE ASSET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82243" y="2336482"/>
                <a:ext cx="2561165" cy="1190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150" b="1" dirty="0">
                    <a:solidFill>
                      <a:srgbClr val="FFA800"/>
                    </a:solidFill>
                    <a:latin typeface="+mj-lt"/>
                    <a:ea typeface="+mj-ea"/>
                    <a:cs typeface="+mj-cs"/>
                  </a:rPr>
                  <a:t>108 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77012" y="3298508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新概念名师精析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6286500" y="3714750"/>
                <a:ext cx="2152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2650" h="9525">
                    <a:moveTo>
                      <a:pt x="0" y="0"/>
                    </a:moveTo>
                    <a:lnTo>
                      <a:pt x="2152650" y="0"/>
                    </a:lnTo>
                  </a:path>
                </a:pathLst>
              </a:custGeom>
              <a:noFill/>
              <a:ln w="9525">
                <a:solidFill>
                  <a:srgbClr val="FFA800"/>
                </a:solidFill>
                <a:prstDash val="dash"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80061" y="3934778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第三、四册课文逐篇解析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59245" y="4172902"/>
                <a:ext cx="18071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附 47.4 MB 完整合订版 PDF</a:t>
                </a:r>
              </a:p>
            </p:txBody>
          </p:sp>
        </p:grpSp>
        <p:grpSp>
          <p:nvGrpSpPr>
            <p:cNvPr id="46" name="stat-tile-4"/>
            <p:cNvGrpSpPr/>
            <p:nvPr/>
          </p:nvGrpSpPr>
          <p:grpSpPr>
            <a:xfrm>
              <a:off x="8858250" y="1619250"/>
              <a:ext cx="2762250" cy="3181350"/>
              <a:chOff x="8858250" y="1619250"/>
              <a:chExt cx="2762250" cy="3181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896350" y="1657350"/>
                <a:ext cx="2724150" cy="314325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858250" y="1619250"/>
                <a:ext cx="2724150" cy="3143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9048750" y="1809750"/>
                <a:ext cx="1333500" cy="285750"/>
              </a:xfrm>
              <a:prstGeom prst="rect">
                <a:avLst/>
              </a:prstGeom>
              <a:solidFill>
                <a:srgbClr val="181A24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179974" y="1904524"/>
                <a:ext cx="10710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A800"/>
                    </a:solidFill>
                    <a:latin typeface="+mn-lt"/>
                    <a:ea typeface="+mn-ea"/>
                    <a:cs typeface="+mn-cs"/>
                  </a:rPr>
                  <a:t>LICENSE &amp; PRICE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17862" y="2336482"/>
                <a:ext cx="1604925" cy="1190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150" b="1" dirty="0">
                    <a:solidFill>
                      <a:srgbClr val="181A24"/>
                    </a:solidFill>
                    <a:latin typeface="+mj-lt"/>
                    <a:ea typeface="+mj-ea"/>
                    <a:cs typeface="+mj-cs"/>
                  </a:rPr>
                  <a:t>0 元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370652" y="3298508"/>
                <a:ext cx="16993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永 久 开 源 免 费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9048750" y="3714750"/>
                <a:ext cx="2343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43150" h="9525">
                    <a:moveTo>
                      <a:pt x="0" y="0"/>
                    </a:moveTo>
                    <a:lnTo>
                      <a:pt x="2343150" y="0"/>
                    </a:lnTo>
                  </a:path>
                </a:pathLst>
              </a:custGeom>
              <a:noFill/>
              <a:ln w="9525">
                <a:solidFill>
                  <a:srgbClr val="181A24"/>
                </a:solidFill>
                <a:prstDash val="dash"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331147" y="3934778"/>
                <a:ext cx="17783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知识共享 CC BY-NC-SA 4.0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345682" y="4172902"/>
                <a:ext cx="17492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无套路 · 无引流 · 零商业化</a:t>
                </a:r>
              </a:p>
            </p:txBody>
          </p:sp>
        </p:grpSp>
      </p:grpSp>
      <p:grpSp>
        <p:nvGrpSpPr>
          <p:cNvPr id="57" name="bottom-features-zone"/>
          <p:cNvGrpSpPr/>
          <p:nvPr/>
        </p:nvGrpSpPr>
        <p:grpSpPr>
          <a:xfrm>
            <a:off x="571500" y="5000625"/>
            <a:ext cx="11010900" cy="1381125"/>
            <a:chOff x="571500" y="5000625"/>
            <a:chExt cx="11010900" cy="1381125"/>
          </a:xfrm>
        </p:grpSpPr>
        <p:sp>
          <p:nvSpPr>
            <p:cNvPr id="48" name="Rectangle 48"/>
            <p:cNvSpPr/>
            <p:nvPr/>
          </p:nvSpPr>
          <p:spPr>
            <a:xfrm>
              <a:off x="571500" y="5000625"/>
              <a:ext cx="11010900" cy="1381125"/>
            </a:xfrm>
            <a:prstGeom prst="rect">
              <a:avLst/>
            </a:prstGeom>
            <a:solidFill>
              <a:srgbClr val="FFF4D9"/>
            </a:solidFill>
            <a:ln w="28575">
              <a:solidFill>
                <a:srgbClr val="181A24"/>
              </a:solidFill>
            </a:ln>
          </p:spPr>
        </p:sp>
        <p:grpSp>
          <p:nvGrpSpPr>
            <p:cNvPr id="52" name="feat-1"/>
            <p:cNvGrpSpPr/>
            <p:nvPr/>
          </p:nvGrpSpPr>
          <p:grpSpPr>
            <a:xfrm>
              <a:off x="857250" y="5238750"/>
              <a:ext cx="7525893" cy="314706"/>
              <a:chOff x="857250" y="5238750"/>
              <a:chExt cx="7525893" cy="314706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57250" y="5238750"/>
                <a:ext cx="1238250" cy="3048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71897" y="5326856"/>
                <a:ext cx="12089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🔄 乱序/正序双轨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232279" y="5318760"/>
                <a:ext cx="6150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考研、四六级、雅思等核心备考库标配正序与乱序版，彻底破除首字母位置联想惯性。</a:t>
                </a:r>
              </a:p>
            </p:txBody>
          </p:sp>
        </p:grpSp>
        <p:grpSp>
          <p:nvGrpSpPr>
            <p:cNvPr id="56" name="feat-2"/>
            <p:cNvGrpSpPr/>
            <p:nvPr/>
          </p:nvGrpSpPr>
          <p:grpSpPr>
            <a:xfrm>
              <a:off x="857250" y="5762625"/>
              <a:ext cx="7726381" cy="314706"/>
              <a:chOff x="857250" y="5762625"/>
              <a:chExt cx="7726381" cy="314706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57250" y="5762625"/>
                <a:ext cx="1238250" cy="3048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15433" y="5850731"/>
                <a:ext cx="112188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🛠️ 格式极简通用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232279" y="5842635"/>
                <a:ext cx="63513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所有词书均提供纯净 .xlsx 与 .txt 格式，1 秒无缝直导 Anki、Quizlet、欧路生词本。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6551295" cy="1147001"/>
            <a:chOff x="557022" y="285750"/>
            <a:chExt cx="6551295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181A2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23568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FA800"/>
                  </a:solidFill>
                  <a:latin typeface="Courier New"/>
                  <a:ea typeface="Courier New"/>
                  <a:cs typeface="Courier New"/>
                </a:rPr>
                <a:t>CHAPTER 03 /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五大阶梯分层：全生命周期英语成长树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6B7B"/>
                  </a:solidFill>
                  <a:latin typeface="+mn-lt"/>
                  <a:ea typeface="+mn-ea"/>
                  <a:cs typeface="+mn-cs"/>
                </a:rPr>
                <a:t>按学段、考试类别与专业场景严格划分，检索精准，开箱即用，无缝衔接</a:t>
              </a:r>
            </a:p>
          </p:txBody>
        </p:sp>
      </p:grpSp>
      <p:grpSp>
        <p:nvGrpSpPr>
          <p:cNvPr id="107" name="pyramid-cards-zone"/>
          <p:cNvGrpSpPr/>
          <p:nvPr/>
        </p:nvGrpSpPr>
        <p:grpSpPr>
          <a:xfrm>
            <a:off x="571500" y="1619250"/>
            <a:ext cx="11049000" cy="4610100"/>
            <a:chOff x="571500" y="1619250"/>
            <a:chExt cx="11049000" cy="4610100"/>
          </a:xfrm>
        </p:grpSpPr>
        <p:grpSp>
          <p:nvGrpSpPr>
            <p:cNvPr id="26" name="level-card-1"/>
            <p:cNvGrpSpPr/>
            <p:nvPr/>
          </p:nvGrpSpPr>
          <p:grpSpPr>
            <a:xfrm>
              <a:off x="571500" y="1619250"/>
              <a:ext cx="2095500" cy="4610100"/>
              <a:chOff x="571500" y="1619250"/>
              <a:chExt cx="2095500" cy="46101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2057400" cy="45720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2057400" cy="45720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619250"/>
                <a:ext cx="2057400" cy="5715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22218" y="1775460"/>
                <a:ext cx="7559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STAGE 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52039" y="1968818"/>
                <a:ext cx="18963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A800"/>
                    </a:solidFill>
                    <a:latin typeface="+mn-lt"/>
                    <a:ea typeface="+mn-ea"/>
                    <a:cs typeface="+mn-cs"/>
                  </a:rPr>
                  <a:t>🎒 中小学阶段 (K-12)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14375" y="2333625"/>
                <a:ext cx="1771650" cy="361950"/>
              </a:xfrm>
              <a:prstGeom prst="rect">
                <a:avLst/>
              </a:prstGeom>
              <a:solidFill>
                <a:srgbClr val="E1F2F5"/>
              </a:solidFill>
              <a:ln w="14288">
                <a:solidFill>
                  <a:srgbClr val="006B7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8411" y="2434114"/>
                <a:ext cx="1163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共 384 本 词书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8660" y="28789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核心涵盖：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9041" y="3144202"/>
                <a:ext cx="10498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人教版/外研版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09041" y="3382328"/>
                <a:ext cx="10498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北师大/苏教版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09041" y="3620452"/>
                <a:ext cx="10498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冀教版/牛津版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9041" y="3858578"/>
                <a:ext cx="12548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小学到高中各学期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14375" y="4191000"/>
                <a:ext cx="177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9525">
                    <a:moveTo>
                      <a:pt x="0" y="0"/>
                    </a:moveTo>
                    <a:lnTo>
                      <a:pt x="17716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08660" y="43553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中高考专项：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9041" y="4620578"/>
                <a:ext cx="12477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中考核心词 (9本)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9041" y="4858702"/>
                <a:ext cx="13537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高考3500词 (47本)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9041" y="5096828"/>
                <a:ext cx="12760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维克多 / 星火名师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714375" y="5619750"/>
                <a:ext cx="1771650" cy="400050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01573" y="5771674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紧贴教育部课程标准</a:t>
                </a:r>
              </a:p>
            </p:txBody>
          </p:sp>
        </p:grpSp>
        <p:grpSp>
          <p:nvGrpSpPr>
            <p:cNvPr id="46" name="level-card-2"/>
            <p:cNvGrpSpPr/>
            <p:nvPr/>
          </p:nvGrpSpPr>
          <p:grpSpPr>
            <a:xfrm>
              <a:off x="2809875" y="1619250"/>
              <a:ext cx="2095500" cy="4610100"/>
              <a:chOff x="2809875" y="1619250"/>
              <a:chExt cx="2095500" cy="46101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847975" y="1657350"/>
                <a:ext cx="2057400" cy="45720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809875" y="1619250"/>
                <a:ext cx="2057400" cy="45720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809875" y="1619250"/>
                <a:ext cx="2057400" cy="5715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460593" y="1775460"/>
                <a:ext cx="7559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STAGE 02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80733" y="1968818"/>
                <a:ext cx="17156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🎓 大学通识与四六级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2952750" y="2333625"/>
                <a:ext cx="1771650" cy="361950"/>
              </a:xfrm>
              <a:prstGeom prst="rect">
                <a:avLst/>
              </a:prstGeom>
              <a:solidFill>
                <a:srgbClr val="FFE8EC"/>
              </a:solidFill>
              <a:ln w="14288">
                <a:solidFill>
                  <a:srgbClr val="FF476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256786" y="2434114"/>
                <a:ext cx="1163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共 188 本 词书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947035" y="28789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核心涵盖：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947416" y="3144202"/>
                <a:ext cx="1184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大学英语 (69本)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947416" y="3382328"/>
                <a:ext cx="137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四级 CET-4 (30本)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947416" y="3620452"/>
                <a:ext cx="137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六级 CET-6 (46本)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947416" y="3858578"/>
                <a:ext cx="14024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专四 TEM-4 (15本)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947416" y="4096702"/>
                <a:ext cx="14024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专八 TEM-8 (14本)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2952750" y="4429125"/>
                <a:ext cx="177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9525">
                    <a:moveTo>
                      <a:pt x="0" y="0"/>
                    </a:moveTo>
                    <a:lnTo>
                      <a:pt x="17716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947035" y="4593431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经典名书集成：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947416" y="4858702"/>
                <a:ext cx="11346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恋练有词 / 闪过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947416" y="5096828"/>
                <a:ext cx="12760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星火分频 / 黄皮书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2952750" y="5619750"/>
                <a:ext cx="1771650" cy="400050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226260" y="5771674"/>
                <a:ext cx="122462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正序 + 乱序双轨齐备</a:t>
                </a:r>
              </a:p>
            </p:txBody>
          </p:sp>
        </p:grpSp>
        <p:grpSp>
          <p:nvGrpSpPr>
            <p:cNvPr id="66" name="level-card-3"/>
            <p:cNvGrpSpPr/>
            <p:nvPr/>
          </p:nvGrpSpPr>
          <p:grpSpPr>
            <a:xfrm>
              <a:off x="5048250" y="1619250"/>
              <a:ext cx="2095500" cy="4610100"/>
              <a:chOff x="5048250" y="1619250"/>
              <a:chExt cx="2095500" cy="46101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5086350" y="1657350"/>
                <a:ext cx="2057400" cy="4572000"/>
              </a:xfrm>
              <a:prstGeom prst="rect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5048250" y="1619250"/>
                <a:ext cx="2057400" cy="45720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5048250" y="1619250"/>
                <a:ext cx="2057400" cy="571500"/>
              </a:xfrm>
              <a:prstGeom prst="rect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582473" y="1775460"/>
                <a:ext cx="988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STAGE 03 🔥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309977" y="1968818"/>
                <a:ext cx="15339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📚 考研与考博学术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5191125" y="2333625"/>
                <a:ext cx="1771650" cy="361950"/>
              </a:xfrm>
              <a:prstGeom prst="rect">
                <a:avLst/>
              </a:prstGeom>
              <a:solidFill>
                <a:srgbClr val="FFF4D9"/>
              </a:solidFill>
              <a:ln w="14288">
                <a:solidFill>
                  <a:srgbClr val="FFA800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495161" y="2434114"/>
                <a:ext cx="1163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共 205 本 词书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185410" y="28789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核心涵盖：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185791" y="3144202"/>
                <a:ext cx="16223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考研英语一/二 (190本)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185791" y="3382328"/>
                <a:ext cx="12477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研究生英语 (9本)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185791" y="3620452"/>
                <a:ext cx="14385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考博 10000 词 (6本)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5191125" y="4000500"/>
                <a:ext cx="177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9525">
                    <a:moveTo>
                      <a:pt x="0" y="0"/>
                    </a:moveTo>
                    <a:lnTo>
                      <a:pt x="17716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5185410" y="41648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深度真题考点：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185791" y="4430078"/>
                <a:ext cx="12548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考研红宝书完整版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185791" y="4668202"/>
                <a:ext cx="1396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新东方真题核心考点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5185791" y="4906328"/>
                <a:ext cx="15587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形近词 / 熟词僻义专题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185791" y="5144452"/>
                <a:ext cx="11134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高频分级冲刺本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5191125" y="5619750"/>
                <a:ext cx="1771650" cy="400050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5478323" y="5771674"/>
                <a:ext cx="11972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全网最深考研专题库</a:t>
                </a:r>
              </a:p>
            </p:txBody>
          </p:sp>
        </p:grpSp>
        <p:grpSp>
          <p:nvGrpSpPr>
            <p:cNvPr id="86" name="level-card-4"/>
            <p:cNvGrpSpPr/>
            <p:nvPr/>
          </p:nvGrpSpPr>
          <p:grpSpPr>
            <a:xfrm>
              <a:off x="7286625" y="1619250"/>
              <a:ext cx="2095500" cy="4610100"/>
              <a:chOff x="7286625" y="1619250"/>
              <a:chExt cx="2095500" cy="46101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7324725" y="1657350"/>
                <a:ext cx="2057400" cy="45720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7286625" y="1619250"/>
                <a:ext cx="2057400" cy="45720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7286625" y="1619250"/>
                <a:ext cx="2057400" cy="5715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820848" y="1775460"/>
                <a:ext cx="988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STAGE 04 🏆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529497" y="1968818"/>
                <a:ext cx="15716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A800"/>
                    </a:solidFill>
                    <a:latin typeface="+mn-lt"/>
                    <a:ea typeface="+mn-ea"/>
                    <a:cs typeface="+mn-cs"/>
                  </a:rPr>
                  <a:t>✈️ 国际考试 &amp; 留学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7429500" y="2333625"/>
                <a:ext cx="1771650" cy="361950"/>
              </a:xfrm>
              <a:prstGeom prst="rect">
                <a:avLst/>
              </a:prstGeom>
              <a:solidFill>
                <a:srgbClr val="E1F2F5"/>
              </a:solidFill>
              <a:ln w="14288">
                <a:solidFill>
                  <a:srgbClr val="006B7B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733536" y="2434114"/>
                <a:ext cx="1163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共 142 本 词书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423785" y="28789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核心涵盖：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424166" y="3144202"/>
                <a:ext cx="133523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雅思 IELTS (28本)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424166" y="3382328"/>
                <a:ext cx="14024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托福 TOEFL (21本)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424166" y="3620452"/>
                <a:ext cx="14117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GRE 红宝书 (50+本)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424166" y="3858578"/>
                <a:ext cx="14931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GMAT / SAT (40+本)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7429500" y="4191000"/>
                <a:ext cx="177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9525">
                    <a:moveTo>
                      <a:pt x="0" y="0"/>
                    </a:moveTo>
                    <a:lnTo>
                      <a:pt x="17716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423785" y="43553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权威书系推荐：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424166" y="4620578"/>
                <a:ext cx="15375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词以类记（主题分类）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424166" y="4858702"/>
                <a:ext cx="12901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王陆 807 听说读写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7424166" y="5096828"/>
                <a:ext cx="15092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剑桥雅思 4-17 真词汇</a:t>
                </a: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7429500" y="5619750"/>
                <a:ext cx="1771650" cy="400050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620556" y="5771674"/>
                <a:ext cx="138953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直击 7.0+ / 100+ 高分</a:t>
                </a:r>
              </a:p>
            </p:txBody>
          </p:sp>
        </p:grpSp>
        <p:grpSp>
          <p:nvGrpSpPr>
            <p:cNvPr id="106" name="level-card-5"/>
            <p:cNvGrpSpPr/>
            <p:nvPr/>
          </p:nvGrpSpPr>
          <p:grpSpPr>
            <a:xfrm>
              <a:off x="9525000" y="1619250"/>
              <a:ext cx="2095500" cy="4610100"/>
              <a:chOff x="9525000" y="1619250"/>
              <a:chExt cx="2095500" cy="461010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9563100" y="1657350"/>
                <a:ext cx="2057400" cy="457200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9525000" y="1619250"/>
                <a:ext cx="2057400" cy="45720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89" name="Rectangle 89"/>
              <p:cNvSpPr/>
              <p:nvPr/>
            </p:nvSpPr>
            <p:spPr>
              <a:xfrm>
                <a:off x="9525000" y="1619250"/>
                <a:ext cx="2057400" cy="57150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10059223" y="1775460"/>
                <a:ext cx="988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A800"/>
                    </a:solidFill>
                    <a:latin typeface="+mn-lt"/>
                    <a:ea typeface="+mn-ea"/>
                    <a:cs typeface="+mn-cs"/>
                  </a:rPr>
                  <a:t>STAGE 05 💻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9786727" y="1968818"/>
                <a:ext cx="15339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💼 职场与技术进阶</a:t>
                </a:r>
              </a:p>
            </p:txBody>
          </p:sp>
          <p:sp>
            <p:nvSpPr>
              <p:cNvPr id="92" name="Rectangle 92"/>
              <p:cNvSpPr/>
              <p:nvPr/>
            </p:nvSpPr>
            <p:spPr>
              <a:xfrm>
                <a:off x="9667875" y="2333625"/>
                <a:ext cx="1771650" cy="361950"/>
              </a:xfrm>
              <a:prstGeom prst="rect">
                <a:avLst/>
              </a:prstGeom>
              <a:solidFill>
                <a:srgbClr val="FFF4D9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9795505" y="2434114"/>
                <a:ext cx="15163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共 50 本 + 108讲义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662160" y="2878931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核心涵盖：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9662541" y="3144202"/>
                <a:ext cx="15021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新概念 1-4 册 (16本)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9662541" y="3382328"/>
                <a:ext cx="15420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计算机 IT 英语 (18本)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9662541" y="3620452"/>
                <a:ext cx="14088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商务英语 BEC (4本)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9662541" y="3858578"/>
                <a:ext cx="15445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国际英语/英专 (24本)</a:t>
                </a:r>
              </a:p>
            </p:txBody>
          </p:sp>
          <p:sp>
            <p:nvSpPr>
              <p:cNvPr id="99" name="Line 99"/>
              <p:cNvSpPr/>
              <p:nvPr/>
            </p:nvSpPr>
            <p:spPr>
              <a:xfrm>
                <a:off x="9667875" y="4191000"/>
                <a:ext cx="177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9525">
                    <a:moveTo>
                      <a:pt x="0" y="0"/>
                    </a:moveTo>
                    <a:lnTo>
                      <a:pt x="17716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9662160" y="43553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独家重磅讲义：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662541" y="4620578"/>
                <a:ext cx="16467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9015" indent="-119015">
                  <a:buClr>
                    <a:srgbClr val="FF4765"/>
                  </a:buClr>
                  <a:buSzTx/>
                  <a:buFontTx/>
                  <a:buChar char="•"/>
                </a:pPr>
                <a:r>
                  <a:rPr lang="zh-CN" sz="105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新概念3&amp;4名师深度笔记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9662541" y="4858702"/>
                <a:ext cx="15971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Python/Java 通关单词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9662541" y="5096828"/>
                <a:ext cx="15167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NAWL 国际学术论文词</a:t>
                </a:r>
              </a:p>
            </p:txBody>
          </p:sp>
          <p:sp>
            <p:nvSpPr>
              <p:cNvPr id="104" name="Rectangle 104"/>
              <p:cNvSpPr/>
              <p:nvPr/>
            </p:nvSpPr>
            <p:spPr>
              <a:xfrm>
                <a:off x="9667875" y="5619750"/>
                <a:ext cx="1771650" cy="400050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10021037" y="5771674"/>
                <a:ext cx="10653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工程师与出海必备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7679276" cy="1147001"/>
            <a:chOff x="557022" y="285750"/>
            <a:chExt cx="7679276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006B7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23568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AF6EE"/>
                  </a:solidFill>
                  <a:latin typeface="Courier New"/>
                  <a:ea typeface="Courier New"/>
                  <a:cs typeface="Courier New"/>
                </a:rPr>
                <a:t>CHAPTER 04 / ABROAD EXAMS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767927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出国双雄：雅思 7.0+ 战术图谱与托福跨学科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6471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4765"/>
                  </a:solidFill>
                  <a:latin typeface="+mn-lt"/>
                  <a:ea typeface="+mn-ea"/>
                  <a:cs typeface="+mn-cs"/>
                </a:rPr>
                <a:t>专为“屠鸭”与托福网考 (iBT) 定制，按认知心理学与真实真题高频场景深度归类</a:t>
              </a:r>
            </a:p>
          </p:txBody>
        </p:sp>
      </p:grpSp>
      <p:grpSp>
        <p:nvGrpSpPr>
          <p:cNvPr id="57" name="abroad-body-zone"/>
          <p:cNvGrpSpPr/>
          <p:nvPr/>
        </p:nvGrpSpPr>
        <p:grpSpPr>
          <a:xfrm>
            <a:off x="571500" y="1619250"/>
            <a:ext cx="11049000" cy="4705350"/>
            <a:chOff x="571500" y="1619250"/>
            <a:chExt cx="11049000" cy="4705350"/>
          </a:xfrm>
        </p:grpSpPr>
        <p:grpSp>
          <p:nvGrpSpPr>
            <p:cNvPr id="37" name="ielts-section"/>
            <p:cNvGrpSpPr/>
            <p:nvPr/>
          </p:nvGrpSpPr>
          <p:grpSpPr>
            <a:xfrm>
              <a:off x="571500" y="1619250"/>
              <a:ext cx="5753100" cy="4705350"/>
              <a:chOff x="571500" y="1619250"/>
              <a:chExt cx="5753100" cy="4705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5715000" cy="46672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571500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57250" y="1857375"/>
                <a:ext cx="2667000" cy="36195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41448" y="1959292"/>
                <a:ext cx="22986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🎓 雅思科学备考 4 步通关流</a:t>
                </a:r>
              </a:p>
            </p:txBody>
          </p:sp>
          <p:grpSp>
            <p:nvGrpSpPr>
              <p:cNvPr id="16" name="ielts-step-1"/>
              <p:cNvGrpSpPr/>
              <p:nvPr/>
            </p:nvGrpSpPr>
            <p:grpSpPr>
              <a:xfrm>
                <a:off x="857250" y="2381250"/>
                <a:ext cx="5143500" cy="647700"/>
                <a:chOff x="857250" y="2381250"/>
                <a:chExt cx="5143500" cy="647700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857250" y="2381250"/>
                  <a:ext cx="5143500" cy="647700"/>
                </a:xfrm>
                <a:prstGeom prst="rect">
                  <a:avLst/>
                </a:prstGeom>
                <a:solidFill>
                  <a:srgbClr val="E1F2F5"/>
                </a:solidFill>
                <a:ln w="19050">
                  <a:solidFill>
                    <a:srgbClr val="006B7B"/>
                  </a:solidFill>
                </a:ln>
              </p:spPr>
            </p:sp>
            <p:sp>
              <p:nvSpPr>
                <p:cNvPr id="12" name="Rectangle 12"/>
                <p:cNvSpPr/>
                <p:nvPr/>
              </p:nvSpPr>
              <p:spPr>
                <a:xfrm>
                  <a:off x="857250" y="2381250"/>
                  <a:ext cx="571500" cy="64770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006342" y="26031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FAF6EE"/>
                      </a:solidFill>
                      <a:latin typeface="+mj-lt"/>
                      <a:ea typeface="+mj-ea"/>
                      <a:cs typeface="+mj-cs"/>
                    </a:rPr>
                    <a:t>01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612773" y="2529364"/>
                  <a:ext cx="2360727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夯实基础：雅思标准词汇 3800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613916" y="2782252"/>
                  <a:ext cx="340309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扫盲低中阶词汇死角，建立最基础的听说读写词根认知</a:t>
                  </a:r>
                </a:p>
              </p:txBody>
            </p:sp>
          </p:grpSp>
          <p:grpSp>
            <p:nvGrpSpPr>
              <p:cNvPr id="22" name="ielts-step-2"/>
              <p:cNvGrpSpPr/>
              <p:nvPr/>
            </p:nvGrpSpPr>
            <p:grpSpPr>
              <a:xfrm>
                <a:off x="857250" y="3143250"/>
                <a:ext cx="5143500" cy="647700"/>
                <a:chOff x="857250" y="3143250"/>
                <a:chExt cx="5143500" cy="647700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857250" y="3143250"/>
                  <a:ext cx="5143500" cy="647700"/>
                </a:xfrm>
                <a:prstGeom prst="rect">
                  <a:avLst/>
                </a:prstGeom>
                <a:solidFill>
                  <a:srgbClr val="FFF4D9"/>
                </a:solidFill>
                <a:ln w="19050">
                  <a:solidFill>
                    <a:srgbClr val="FFA800"/>
                  </a:solidFill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857250" y="3143250"/>
                  <a:ext cx="571500" cy="647700"/>
                </a:xfrm>
                <a:prstGeom prst="rect">
                  <a:avLst/>
                </a:prstGeom>
                <a:solidFill>
                  <a:srgbClr val="FFA800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006342" y="33651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181A24"/>
                      </a:solidFill>
                      <a:latin typeface="+mj-lt"/>
                      <a:ea typeface="+mj-ea"/>
                      <a:cs typeface="+mj-cs"/>
                    </a:rPr>
                    <a:t>02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612773" y="3291364"/>
                  <a:ext cx="3728897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听写极速反应：王陆 807 核心词 (听/说/读/写)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613916" y="3544252"/>
                  <a:ext cx="354444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考鸭人手必备，精准击破听力反应盲区与高频拼写易错点</a:t>
                  </a:r>
                </a:p>
              </p:txBody>
            </p:sp>
          </p:grpSp>
          <p:grpSp>
            <p:nvGrpSpPr>
              <p:cNvPr id="28" name="ielts-step-3"/>
              <p:cNvGrpSpPr/>
              <p:nvPr/>
            </p:nvGrpSpPr>
            <p:grpSpPr>
              <a:xfrm>
                <a:off x="857250" y="3905250"/>
                <a:ext cx="5143500" cy="647700"/>
                <a:chOff x="857250" y="3905250"/>
                <a:chExt cx="5143500" cy="6477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857250" y="3905250"/>
                  <a:ext cx="5143500" cy="647700"/>
                </a:xfrm>
                <a:prstGeom prst="rect">
                  <a:avLst/>
                </a:prstGeom>
                <a:solidFill>
                  <a:srgbClr val="FFE8EC"/>
                </a:solidFill>
                <a:ln w="19050">
                  <a:solidFill>
                    <a:srgbClr val="FF4765"/>
                  </a:solidFill>
                </a:ln>
              </p:spPr>
            </p:sp>
            <p:sp>
              <p:nvSpPr>
                <p:cNvPr id="24" name="Rectangle 24"/>
                <p:cNvSpPr/>
                <p:nvPr/>
              </p:nvSpPr>
              <p:spPr>
                <a:xfrm>
                  <a:off x="857250" y="3905250"/>
                  <a:ext cx="571500" cy="647700"/>
                </a:xfrm>
                <a:prstGeom prst="rect">
                  <a:avLst/>
                </a:prstGeom>
                <a:solidFill>
                  <a:srgbClr val="FF4765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006342" y="41271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FAF6EE"/>
                      </a:solidFill>
                      <a:latin typeface="+mj-lt"/>
                      <a:ea typeface="+mj-ea"/>
                      <a:cs typeface="+mj-cs"/>
                    </a:rPr>
                    <a:t>03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612773" y="4053364"/>
                  <a:ext cx="3367900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场景拓展：雅思词汇词以类记 (主题式记忆)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613916" y="4306252"/>
                  <a:ext cx="356353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针对口语与大作文 Topic 分类背诵，形成高分语块联想网</a:t>
                  </a:r>
                </a:p>
              </p:txBody>
            </p:sp>
          </p:grpSp>
          <p:grpSp>
            <p:nvGrpSpPr>
              <p:cNvPr id="34" name="ielts-step-4"/>
              <p:cNvGrpSpPr/>
              <p:nvPr/>
            </p:nvGrpSpPr>
            <p:grpSpPr>
              <a:xfrm>
                <a:off x="857250" y="4667250"/>
                <a:ext cx="5143500" cy="647700"/>
                <a:chOff x="857250" y="4667250"/>
                <a:chExt cx="5143500" cy="647700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857250" y="4667250"/>
                  <a:ext cx="5143500" cy="647700"/>
                </a:xfrm>
                <a:prstGeom prst="rect">
                  <a:avLst/>
                </a:prstGeom>
                <a:solidFill>
                  <a:srgbClr val="FAF6EE"/>
                </a:solidFill>
                <a:ln w="19050">
                  <a:solidFill>
                    <a:srgbClr val="181A24"/>
                  </a:solidFill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857250" y="4667250"/>
                  <a:ext cx="571500" cy="647700"/>
                </a:xfrm>
                <a:prstGeom prst="rect">
                  <a:avLst/>
                </a:prstGeom>
                <a:solidFill>
                  <a:srgbClr val="181A24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06342" y="48891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FAF6EE"/>
                      </a:solidFill>
                      <a:latin typeface="+mj-lt"/>
                      <a:ea typeface="+mj-ea"/>
                      <a:cs typeface="+mj-cs"/>
                    </a:rPr>
                    <a:t>04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612773" y="4815364"/>
                  <a:ext cx="3357561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真题实战：剑桥雅思真词汇 (剑 4-17 精选)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613916" y="5068252"/>
                  <a:ext cx="343843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剑桥官方真题高频原汁原味复现，考前 1-2 周终极扫雷</a:t>
                  </a:r>
                </a:p>
              </p:txBody>
            </p:sp>
          </p:grpSp>
          <p:sp>
            <p:nvSpPr>
              <p:cNvPr id="35" name="Rectangle 35"/>
              <p:cNvSpPr/>
              <p:nvPr/>
            </p:nvSpPr>
            <p:spPr>
              <a:xfrm>
                <a:off x="857250" y="5524500"/>
                <a:ext cx="5143500" cy="495300"/>
              </a:xfrm>
              <a:prstGeom prst="rect">
                <a:avLst/>
              </a:prstGeom>
              <a:solidFill>
                <a:srgbClr val="006B7B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203652" y="5660708"/>
                <a:ext cx="44506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A800"/>
                    </a:solidFill>
                    <a:latin typeface="+mn-lt"/>
                    <a:ea typeface="+mn-ea"/>
                    <a:cs typeface="+mn-cs"/>
                  </a:rPr>
                  <a:t>🎯 终极目标：IELTS 7.0+ / 7.5+ 稳操胜券</a:t>
                </a:r>
              </a:p>
            </p:txBody>
          </p:sp>
        </p:grpSp>
        <p:grpSp>
          <p:nvGrpSpPr>
            <p:cNvPr id="56" name="toefl-section"/>
            <p:cNvGrpSpPr/>
            <p:nvPr/>
          </p:nvGrpSpPr>
          <p:grpSpPr>
            <a:xfrm>
              <a:off x="6477000" y="1619250"/>
              <a:ext cx="5143500" cy="4705350"/>
              <a:chOff x="6477000" y="1619250"/>
              <a:chExt cx="5143500" cy="47053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515100" y="1657350"/>
                <a:ext cx="5105400" cy="466725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477000" y="1619250"/>
                <a:ext cx="510540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762750" y="1857375"/>
                <a:ext cx="2667000" cy="3619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965803" y="1959292"/>
                <a:ext cx="22608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✈️ 托福跨学科学术背景矩阵</a:t>
                </a:r>
              </a:p>
            </p:txBody>
          </p:sp>
          <p:grpSp>
            <p:nvGrpSpPr>
              <p:cNvPr id="45" name="toefl-item-1"/>
              <p:cNvGrpSpPr/>
              <p:nvPr/>
            </p:nvGrpSpPr>
            <p:grpSpPr>
              <a:xfrm>
                <a:off x="6762750" y="2381250"/>
                <a:ext cx="4533900" cy="904875"/>
                <a:chOff x="6762750" y="2381250"/>
                <a:chExt cx="4533900" cy="904875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6762750" y="2381250"/>
                  <a:ext cx="4533900" cy="904875"/>
                </a:xfrm>
                <a:prstGeom prst="rect">
                  <a:avLst/>
                </a:prstGeom>
                <a:solidFill>
                  <a:srgbClr val="FFE8EC"/>
                </a:solidFill>
                <a:ln w="19050">
                  <a:solidFill>
                    <a:srgbClr val="FF4765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946392" y="2521268"/>
                  <a:ext cx="202153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📘 TOEFL 词汇词以类记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947916" y="2801302"/>
                  <a:ext cx="3551110" cy="4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涵盖托福阅读/听力必考跨学科场景：生物演化、地质板块、</a:t>
                  </a:r>
                  <a:br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天文宇宙、文艺复兴历史、心理学实验等学术高频背景词。</a:t>
                  </a:r>
                </a:p>
              </p:txBody>
            </p:sp>
          </p:grpSp>
          <p:grpSp>
            <p:nvGrpSpPr>
              <p:cNvPr id="49" name="toefl-item-2"/>
              <p:cNvGrpSpPr/>
              <p:nvPr/>
            </p:nvGrpSpPr>
            <p:grpSpPr>
              <a:xfrm>
                <a:off x="6762750" y="3429000"/>
                <a:ext cx="4533900" cy="904875"/>
                <a:chOff x="6762750" y="3429000"/>
                <a:chExt cx="4533900" cy="904875"/>
              </a:xfrm>
            </p:grpSpPr>
            <p:sp>
              <p:nvSpPr>
                <p:cNvPr id="46" name="Rectangle 46"/>
                <p:cNvSpPr/>
                <p:nvPr/>
              </p:nvSpPr>
              <p:spPr>
                <a:xfrm>
                  <a:off x="6762750" y="3429000"/>
                  <a:ext cx="4533900" cy="904875"/>
                </a:xfrm>
                <a:prstGeom prst="rect">
                  <a:avLst/>
                </a:prstGeom>
                <a:solidFill>
                  <a:srgbClr val="FFF4D9"/>
                </a:solidFill>
                <a:ln w="19050">
                  <a:solidFill>
                    <a:srgbClr val="FFA800"/>
                  </a:solidFill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946392" y="3569018"/>
                  <a:ext cx="222182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⚡ 托福核心词汇 21 天突破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947916" y="3849052"/>
                  <a:ext cx="3437763" cy="4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李笑来经典 21 天突破法，精选反复出现的关键学术动词、</a:t>
                  </a:r>
                  <a:br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论证形容词与逻辑副词，快速拉起学术文本阅读流畅度。</a:t>
                  </a:r>
                </a:p>
              </p:txBody>
            </p:sp>
          </p:grpSp>
          <p:grpSp>
            <p:nvGrpSpPr>
              <p:cNvPr id="53" name="toefl-item-3"/>
              <p:cNvGrpSpPr/>
              <p:nvPr/>
            </p:nvGrpSpPr>
            <p:grpSpPr>
              <a:xfrm>
                <a:off x="6762750" y="4476750"/>
                <a:ext cx="4533900" cy="904875"/>
                <a:chOff x="6762750" y="4476750"/>
                <a:chExt cx="4533900" cy="904875"/>
              </a:xfrm>
            </p:grpSpPr>
            <p:sp>
              <p:nvSpPr>
                <p:cNvPr id="50" name="Rectangle 50"/>
                <p:cNvSpPr/>
                <p:nvPr/>
              </p:nvSpPr>
              <p:spPr>
                <a:xfrm>
                  <a:off x="6762750" y="4476750"/>
                  <a:ext cx="4533900" cy="904875"/>
                </a:xfrm>
                <a:prstGeom prst="rect">
                  <a:avLst/>
                </a:prstGeom>
                <a:solidFill>
                  <a:srgbClr val="E1F2F5"/>
                </a:solidFill>
                <a:ln w="19050">
                  <a:solidFill>
                    <a:srgbClr val="006B7B"/>
                  </a:solidFill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6946392" y="4616768"/>
                  <a:ext cx="289152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🔄 托福词汇乱序版 (强化第一反射)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947916" y="4896802"/>
                  <a:ext cx="3744468" cy="4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彻底避免字母排序带来的惰性背诵假象；听力考场上无序抓词，</a:t>
                  </a:r>
                  <a:br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强化听到音标与释义毫秒级反应的能力。</a:t>
                  </a:r>
                </a:p>
              </p:txBody>
            </p:sp>
          </p:grpSp>
          <p:sp>
            <p:nvSpPr>
              <p:cNvPr id="54" name="Rectangle 54"/>
              <p:cNvSpPr/>
              <p:nvPr/>
            </p:nvSpPr>
            <p:spPr>
              <a:xfrm>
                <a:off x="6762750" y="5524500"/>
                <a:ext cx="4533900" cy="495300"/>
              </a:xfrm>
              <a:prstGeom prst="rect">
                <a:avLst/>
              </a:prstGeom>
              <a:solidFill>
                <a:srgbClr val="181A24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544566" y="5693092"/>
                <a:ext cx="29702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🚀 托福 iBT 105+ 学术破局硬核武器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7318629" cy="1147001"/>
            <a:chOff x="557022" y="285750"/>
            <a:chExt cx="7318629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FF476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2545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AF6EE"/>
                  </a:solidFill>
                  <a:latin typeface="Courier New"/>
                  <a:ea typeface="Courier New"/>
                  <a:cs typeface="Courier New"/>
                </a:rPr>
                <a:t>CHAPTER 05 / TREASURE ASSET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73186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镇馆之宝：新概念英语全套数字化研习套装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6042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6B7B"/>
                  </a:solidFill>
                  <a:latin typeface="+mn-lt"/>
                  <a:ea typeface="+mn-ea"/>
                  <a:cs typeface="+mn-cs"/>
                </a:rPr>
                <a:t>全套生词库 + 108 篇名师讲义合订本与课文精析（Docx / 47.4 MB PDF）</a:t>
              </a:r>
            </a:p>
          </p:txBody>
        </p:sp>
      </p:grpSp>
      <p:grpSp>
        <p:nvGrpSpPr>
          <p:cNvPr id="62" name="new-concept-cards-zone"/>
          <p:cNvGrpSpPr/>
          <p:nvPr/>
        </p:nvGrpSpPr>
        <p:grpSpPr>
          <a:xfrm>
            <a:off x="571500" y="1619250"/>
            <a:ext cx="11087100" cy="4705350"/>
            <a:chOff x="571500" y="1619250"/>
            <a:chExt cx="11087100" cy="4705350"/>
          </a:xfrm>
        </p:grpSpPr>
        <p:grpSp>
          <p:nvGrpSpPr>
            <p:cNvPr id="25" name="nc-card-1"/>
            <p:cNvGrpSpPr/>
            <p:nvPr/>
          </p:nvGrpSpPr>
          <p:grpSpPr>
            <a:xfrm>
              <a:off x="571500" y="1619250"/>
              <a:ext cx="3467100" cy="4705350"/>
              <a:chOff x="571500" y="1619250"/>
              <a:chExt cx="3467100" cy="4705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3429000" cy="466725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342900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619250"/>
                <a:ext cx="3429000" cy="5715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03420" y="1803082"/>
                <a:ext cx="23651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📘 经典 + 青少全套词库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809625" y="2381250"/>
                <a:ext cx="2952750" cy="381000"/>
              </a:xfrm>
              <a:prstGeom prst="rect">
                <a:avLst/>
              </a:prstGeom>
              <a:solidFill>
                <a:srgbClr val="E1F2F5"/>
              </a:solidFill>
              <a:ln w="14288">
                <a:solidFill>
                  <a:srgbClr val="006B7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93846" y="2491264"/>
                <a:ext cx="23843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16 本完整 Excel 数字化生词表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3148" y="2957989"/>
                <a:ext cx="18528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1. 经典版（全 4 册）：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03910" y="3259931"/>
                <a:ext cx="28698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第一册：英语初阶 (First Things First)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3910" y="3498056"/>
                <a:ext cx="31747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第二册：实践与进步 (Practice &amp; Progress)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3910" y="3736181"/>
                <a:ext cx="2743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第三册：培养技能 (Developing Skills)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03910" y="3974306"/>
                <a:ext cx="28265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第四册：流利英语 (Fluency in English)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809625" y="4333875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03148" y="4481989"/>
                <a:ext cx="211286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2. 青少版全套 (Junior)：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03910" y="4783931"/>
                <a:ext cx="22437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入门级 Starter A / Starter B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3910" y="5022056"/>
                <a:ext cx="224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1A/1B ~ 5A/5B 全套 12 册词表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3910" y="5260181"/>
                <a:ext cx="20924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完美契合青少阶梯词汇量扩充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09625" y="5667375"/>
                <a:ext cx="2952750" cy="428625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61879" y="5820728"/>
                <a:ext cx="20482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规范音标 · 权威词义 · 精确校对</a:t>
                </a:r>
              </a:p>
            </p:txBody>
          </p:sp>
        </p:grpSp>
        <p:grpSp>
          <p:nvGrpSpPr>
            <p:cNvPr id="43" name="nc-card-2"/>
            <p:cNvGrpSpPr/>
            <p:nvPr/>
          </p:nvGrpSpPr>
          <p:grpSpPr>
            <a:xfrm>
              <a:off x="4381500" y="1619250"/>
              <a:ext cx="3467100" cy="4705350"/>
              <a:chOff x="4381500" y="1619250"/>
              <a:chExt cx="3467100" cy="47053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419600" y="1657350"/>
                <a:ext cx="3429000" cy="46672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4381500" y="1619250"/>
                <a:ext cx="342900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381500" y="1619250"/>
                <a:ext cx="3429000" cy="5715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849282" y="1803082"/>
                <a:ext cx="24934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📙 第三册 60 篇名师讲义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619625" y="2381250"/>
                <a:ext cx="2952750" cy="381000"/>
              </a:xfrm>
              <a:prstGeom prst="rect">
                <a:avLst/>
              </a:prstGeom>
              <a:solidFill>
                <a:srgbClr val="FFE8EC"/>
              </a:solidFill>
              <a:ln w="14288">
                <a:solidFill>
                  <a:srgbClr val="FF476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754095" y="2491264"/>
                <a:ext cx="268381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Lesson 01 ~ Lesson 60 独立讲义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13148" y="2957989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核心赋能体系：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613910" y="3259931"/>
                <a:ext cx="20924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课文背景文化与原著文学典故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13910" y="3498056"/>
                <a:ext cx="20924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核心词汇用法辨析与搭配拓展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13910" y="3736181"/>
                <a:ext cx="20924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关键句型结构拆解与语法专题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613910" y="3974306"/>
                <a:ext cx="194162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课后经典练习答案深度精析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4619625" y="4333875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619625" y="4524375"/>
                <a:ext cx="2952750" cy="904875"/>
              </a:xfrm>
              <a:prstGeom prst="rect">
                <a:avLst/>
              </a:prstGeom>
              <a:solidFill>
                <a:srgbClr val="FFF4D9"/>
              </a:solidFill>
              <a:ln w="19050">
                <a:solidFill>
                  <a:srgbClr val="FFA800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756404" y="4680585"/>
                <a:ext cx="26367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⚡ 附赠 47.4 MB 完整精析合订本：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57166" y="4963478"/>
                <a:ext cx="2144268" cy="414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全 60 篇合并为高清排版 PDF，</a:t>
                </a:r>
                <a:br/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支持平板手写批注与离线随时研读。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4619625" y="5667375"/>
                <a:ext cx="2952750" cy="428625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945193" y="5820728"/>
                <a:ext cx="23016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告别死记硬背 · 语境中建立长效记忆</a:t>
                </a:r>
              </a:p>
            </p:txBody>
          </p:sp>
        </p:grpSp>
        <p:grpSp>
          <p:nvGrpSpPr>
            <p:cNvPr id="61" name="nc-card-3"/>
            <p:cNvGrpSpPr/>
            <p:nvPr/>
          </p:nvGrpSpPr>
          <p:grpSpPr>
            <a:xfrm>
              <a:off x="8191500" y="1619250"/>
              <a:ext cx="3467100" cy="4705350"/>
              <a:chOff x="8191500" y="1619250"/>
              <a:chExt cx="3467100" cy="47053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229600" y="1657350"/>
                <a:ext cx="3429000" cy="4667250"/>
              </a:xfrm>
              <a:prstGeom prst="rect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91500" y="1619250"/>
                <a:ext cx="342900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191500" y="1619250"/>
                <a:ext cx="3429000" cy="571500"/>
              </a:xfrm>
              <a:prstGeom prst="rect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659282" y="1803082"/>
                <a:ext cx="249343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📗 第四册 48 篇高阶精析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8429625" y="2381250"/>
                <a:ext cx="2952750" cy="381000"/>
              </a:xfrm>
              <a:prstGeom prst="rect">
                <a:avLst/>
              </a:prstGeom>
              <a:solidFill>
                <a:srgbClr val="FFF4D9"/>
              </a:solidFill>
              <a:ln w="14288">
                <a:solidFill>
                  <a:srgbClr val="FFA80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564095" y="2491264"/>
                <a:ext cx="268381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Lesson 01 ~ Lesson 48 完整讲义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23148" y="2957989"/>
                <a:ext cx="173609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学术高阶与英美文风：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23910" y="3259931"/>
                <a:ext cx="23939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原汁原味英美大师级散文文风赏析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423910" y="3498056"/>
                <a:ext cx="23939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极复杂长难句与多重从句逻辑切分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423910" y="3736181"/>
                <a:ext cx="20924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高阶学术仿写与严谨论辩表达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23910" y="3974306"/>
                <a:ext cx="233989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0904" indent="-120904">
                  <a:buClr>
                    <a:srgbClr val="475569"/>
                  </a:buClr>
                  <a:buSzTx/>
                  <a:buFontTx/>
                  <a:buChar char="•"/>
                </a:pPr>
                <a:r>
                  <a:rPr lang="zh-CN" sz="112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考博/GRE 级高雅辞藻与哲思意境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429625" y="4333875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9525">
                <a:solidFill>
                  <a:srgbClr val="CBD5E1"/>
                </a:solidFill>
                <a:prstDash val="dash"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8429625" y="4524375"/>
                <a:ext cx="2952750" cy="904875"/>
              </a:xfrm>
              <a:prstGeom prst="rect">
                <a:avLst/>
              </a:prstGeom>
              <a:solidFill>
                <a:srgbClr val="FAF6EE"/>
              </a:solidFill>
              <a:ln w="19050">
                <a:solidFill>
                  <a:srgbClr val="181A24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566404" y="4680585"/>
                <a:ext cx="1363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💡 适合研读人群：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567166" y="4963478"/>
                <a:ext cx="2010918" cy="4149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英语专业高年级学生、考博学者、</a:t>
                </a:r>
                <a:br/>
                <a:r>
                  <a:rPr lang="zh-CN" sz="105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高级翻译与海外学术论文写作者。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8429625" y="5667375"/>
                <a:ext cx="2952750" cy="428625"/>
              </a:xfrm>
              <a:prstGeom prst="rect">
                <a:avLst/>
              </a:prstGeom>
              <a:solidFill>
                <a:srgbClr val="FAF6EE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896544" y="5820728"/>
                <a:ext cx="201891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母语者思维 · 英文写作终极殿堂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6784825" cy="1147001"/>
            <a:chOff x="557022" y="285750"/>
            <a:chExt cx="6784825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181A2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23568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FA800"/>
                  </a:solidFill>
                  <a:latin typeface="Courier New"/>
                  <a:ea typeface="Courier New"/>
                  <a:cs typeface="Courier New"/>
                </a:rPr>
                <a:t>CHAPTER 06 / GEEK SPECIAL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67848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极客专属：计算机与 IT 程序员英语专项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6B7B"/>
                  </a:solidFill>
                  <a:latin typeface="+mn-lt"/>
                  <a:ea typeface="+mn-ea"/>
                  <a:cs typeface="+mn-cs"/>
                </a:rPr>
                <a:t>专为软件工程师、出海开发人员与计算机专业学生定制的技术护城河</a:t>
              </a:r>
            </a:p>
          </p:txBody>
        </p:sp>
      </p:grpSp>
      <p:grpSp>
        <p:nvGrpSpPr>
          <p:cNvPr id="51" name="geek-body-zone"/>
          <p:cNvGrpSpPr/>
          <p:nvPr/>
        </p:nvGrpSpPr>
        <p:grpSpPr>
          <a:xfrm>
            <a:off x="571500" y="1619250"/>
            <a:ext cx="11049000" cy="4705350"/>
            <a:chOff x="571500" y="1619250"/>
            <a:chExt cx="11049000" cy="4705350"/>
          </a:xfrm>
        </p:grpSpPr>
        <p:grpSp>
          <p:nvGrpSpPr>
            <p:cNvPr id="28" name="terminal-window"/>
            <p:cNvGrpSpPr/>
            <p:nvPr/>
          </p:nvGrpSpPr>
          <p:grpSpPr>
            <a:xfrm>
              <a:off x="571500" y="1619250"/>
              <a:ext cx="5276850" cy="4705350"/>
              <a:chOff x="571500" y="1619250"/>
              <a:chExt cx="5276850" cy="4705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5238750" cy="466725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5238750" cy="4667250"/>
              </a:xfrm>
              <a:prstGeom prst="rect">
                <a:avLst/>
              </a:prstGeom>
              <a:solidFill>
                <a:srgbClr val="181A24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42950" y="1790700"/>
                <a:ext cx="133350" cy="133350"/>
              </a:xfrm>
              <a:prstGeom prst="ellipse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33450" y="1790700"/>
                <a:ext cx="133350" cy="133350"/>
              </a:xfrm>
              <a:prstGeom prst="ellipse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23950" y="1790700"/>
                <a:ext cx="133350" cy="133350"/>
              </a:xfrm>
              <a:prstGeom prst="ellipse">
                <a:avLst/>
              </a:prstGeom>
              <a:solidFill>
                <a:srgbClr val="00E676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17995" y="1799749"/>
                <a:ext cx="374576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94A3B8"/>
                    </a:solidFill>
                    <a:latin typeface="Courier New"/>
                    <a:ea typeface="Microsoft YaHei"/>
                    <a:cs typeface="Courier New"/>
                  </a:rPr>
                  <a:t>bash — lilinji@github: ~/English/9.扇贝英语（IT）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571500" y="2047875"/>
                <a:ext cx="523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9525">
                    <a:moveTo>
                      <a:pt x="0" y="0"/>
                    </a:moveTo>
                    <a:lnTo>
                      <a:pt x="5238750" y="0"/>
                    </a:lnTo>
                  </a:path>
                </a:pathLst>
              </a:custGeom>
              <a:noFill/>
              <a:ln w="19050">
                <a:solidFill>
                  <a:srgbClr val="334155"/>
                </a:solidFill>
              </a:ln>
            </p:spPr>
          </p:sp>
          <p:grpSp>
            <p:nvGrpSpPr>
              <p:cNvPr id="27" name="term-text"/>
              <p:cNvGrpSpPr/>
              <p:nvPr/>
            </p:nvGrpSpPr>
            <p:grpSpPr>
              <a:xfrm>
                <a:off x="804291" y="2248852"/>
                <a:ext cx="4257353" cy="3796285"/>
                <a:chOff x="804291" y="2248852"/>
                <a:chExt cx="4257353" cy="3796285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804291" y="2248852"/>
                  <a:ext cx="425735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00E676"/>
                      </a:solidFill>
                      <a:latin typeface="Courier New"/>
                      <a:ea typeface="Courier New"/>
                      <a:cs typeface="Courier New"/>
                    </a:rPr>
                    <a:t>$ git clone https://github.com/lilinji/English.git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04291" y="2534602"/>
                  <a:ext cx="375690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94A3B8"/>
                      </a:solidFill>
                      <a:latin typeface="Courier New"/>
                      <a:ea typeface="Courier New"/>
                      <a:cs typeface="Courier New"/>
                    </a:rPr>
                    <a:t>Cloning into 'English'... 960+ books loaded.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04291" y="2915602"/>
                  <a:ext cx="222534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00E676"/>
                      </a:solidFill>
                      <a:latin typeface="Courier New"/>
                      <a:ea typeface="Microsoft YaHei"/>
                      <a:cs typeface="Courier New"/>
                    </a:rPr>
                    <a:t>$ ls -la ./9.扇贝英语（IT）/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04291" y="3201352"/>
                  <a:ext cx="28942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FFA800"/>
                      </a:solidFill>
                      <a:latin typeface="Courier New"/>
                      <a:ea typeface="Courier New"/>
                      <a:cs typeface="Courier New"/>
                    </a:rPr>
                    <a:t>drwxr-xr-x 18 items total 18 files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04291" y="3458528"/>
                  <a:ext cx="255498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AF6EE"/>
                      </a:solidFill>
                      <a:latin typeface="Courier New"/>
                      <a:ea typeface="Microsoft YaHei"/>
                      <a:cs typeface="Courier New"/>
                    </a:rPr>
                    <a:t>-rw-r--r-- 计算机专业英语词汇.xls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04291" y="3715702"/>
                  <a:ext cx="278930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AF6EE"/>
                      </a:solidFill>
                      <a:latin typeface="Courier New"/>
                      <a:ea typeface="Microsoft YaHei"/>
                      <a:cs typeface="Courier New"/>
                    </a:rPr>
                    <a:t>-rw-r--r-- Python词汇（基础版）.xls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04291" y="3972878"/>
                  <a:ext cx="29302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AF6EE"/>
                      </a:solidFill>
                      <a:latin typeface="Courier New"/>
                      <a:ea typeface="Microsoft YaHei"/>
                      <a:cs typeface="Courier New"/>
                    </a:rPr>
                    <a:t>-rw-r--r-- JAVA程序员英语通关单词.xls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04291" y="4230052"/>
                  <a:ext cx="24893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AF6EE"/>
                      </a:solidFill>
                      <a:latin typeface="Courier New"/>
                      <a:ea typeface="Microsoft YaHei"/>
                      <a:cs typeface="Courier New"/>
                    </a:rPr>
                    <a:t>-rw-r--r-- 雅思NAWL学术词汇.txt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804291" y="4649152"/>
                  <a:ext cx="297903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00E676"/>
                      </a:solidFill>
                      <a:latin typeface="Courier New"/>
                      <a:ea typeface="Courier New"/>
                      <a:cs typeface="Courier New"/>
                    </a:rPr>
                    <a:t>$ python3 -c "import english_vault"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4291" y="4934902"/>
                  <a:ext cx="32904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00E676"/>
                      </a:solidFill>
                      <a:latin typeface="Courier New"/>
                      <a:ea typeface="Courier New"/>
                      <a:cs typeface="Courier New"/>
                    </a:rPr>
                    <a:t>[SUCCESS] Technical Vocab Initialized.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804291" y="5201602"/>
                  <a:ext cx="32574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94A3B8"/>
                      </a:solidFill>
                      <a:latin typeface="Courier New"/>
                      <a:ea typeface="Microsoft YaHei"/>
                      <a:cs typeface="Courier New"/>
                    </a:rPr>
                    <a:t>// 摆脱读官方英文 API 文档与源码时的卡顿困境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804291" y="5458778"/>
                  <a:ext cx="33748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94A3B8"/>
                      </a:solidFill>
                      <a:latin typeface="Courier New"/>
                      <a:ea typeface="Microsoft YaHei"/>
                      <a:cs typeface="Courier New"/>
                    </a:rPr>
                    <a:t>// 助力外企外包面试、出海远程协作与技术论文发表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04291" y="5839778"/>
                  <a:ext cx="30030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FF4765"/>
                      </a:solidFill>
                      <a:latin typeface="Courier New"/>
                      <a:ea typeface="Courier New"/>
                      <a:cs typeface="Courier New"/>
                    </a:rPr>
                    <a:t>★ Empower Your Engineering Career ★</a:t>
                  </a:r>
                </a:p>
              </p:txBody>
            </p:sp>
          </p:grpSp>
        </p:grpSp>
        <p:grpSp>
          <p:nvGrpSpPr>
            <p:cNvPr id="50" name="geek-features"/>
            <p:cNvGrpSpPr/>
            <p:nvPr/>
          </p:nvGrpSpPr>
          <p:grpSpPr>
            <a:xfrm>
              <a:off x="6000750" y="1619250"/>
              <a:ext cx="5619750" cy="4705350"/>
              <a:chOff x="6000750" y="1619250"/>
              <a:chExt cx="5619750" cy="4705350"/>
            </a:xfrm>
          </p:grpSpPr>
          <p:grpSp>
            <p:nvGrpSpPr>
              <p:cNvPr id="35" name="geek-c1"/>
              <p:cNvGrpSpPr/>
              <p:nvPr/>
            </p:nvGrpSpPr>
            <p:grpSpPr>
              <a:xfrm>
                <a:off x="6000750" y="1619250"/>
                <a:ext cx="5619750" cy="1466850"/>
                <a:chOff x="6000750" y="1619250"/>
                <a:chExt cx="5619750" cy="1466850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6038850" y="1657350"/>
                  <a:ext cx="5581650" cy="1428750"/>
                </a:xfrm>
                <a:prstGeom prst="rect">
                  <a:avLst/>
                </a:prstGeom>
                <a:solidFill>
                  <a:srgbClr val="FFA800"/>
                </a:solidFill>
                <a:ln>
                  <a:noFill/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6000750" y="1619250"/>
                  <a:ext cx="5581650" cy="1428750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181A24"/>
                  </a:solidFill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6238875" y="1828800"/>
                  <a:ext cx="2095500" cy="30480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443327" y="1908810"/>
                  <a:ext cx="168659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💻 计算机专业核心词汇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232398" y="2291239"/>
                  <a:ext cx="266916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底层原理 · 操作系统 · 网络与架构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233541" y="2601278"/>
                  <a:ext cx="4257865" cy="4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涵盖计算机体系结构、CPU 缓存、虚拟内存、TCP/IP 协议栈、并发锁等</a:t>
                  </a:r>
                  <a:br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硬核专有名词，扫清阅读 CSAPP、Linux 内核源码等经典原版书的阻碍。</a:t>
                  </a:r>
                </a:p>
              </p:txBody>
            </p:sp>
          </p:grpSp>
          <p:grpSp>
            <p:nvGrpSpPr>
              <p:cNvPr id="42" name="geek-c2"/>
              <p:cNvGrpSpPr/>
              <p:nvPr/>
            </p:nvGrpSpPr>
            <p:grpSpPr>
              <a:xfrm>
                <a:off x="6000750" y="3238500"/>
                <a:ext cx="5619750" cy="1466850"/>
                <a:chOff x="6000750" y="3238500"/>
                <a:chExt cx="5619750" cy="1466850"/>
              </a:xfrm>
            </p:grpSpPr>
            <p:sp>
              <p:nvSpPr>
                <p:cNvPr id="36" name="Rectangle 36"/>
                <p:cNvSpPr/>
                <p:nvPr/>
              </p:nvSpPr>
              <p:spPr>
                <a:xfrm>
                  <a:off x="6038850" y="3276600"/>
                  <a:ext cx="5581650" cy="1428750"/>
                </a:xfrm>
                <a:prstGeom prst="rect">
                  <a:avLst/>
                </a:prstGeom>
                <a:solidFill>
                  <a:srgbClr val="FF4765"/>
                </a:solidFill>
                <a:ln>
                  <a:noFill/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>
                  <a:off x="6000750" y="3238500"/>
                  <a:ext cx="5581650" cy="1428750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181A24"/>
                  </a:solidFill>
                </a:ln>
              </p:spPr>
            </p:sp>
            <p:sp>
              <p:nvSpPr>
                <p:cNvPr id="38" name="Rectangle 38"/>
                <p:cNvSpPr/>
                <p:nvPr/>
              </p:nvSpPr>
              <p:spPr>
                <a:xfrm>
                  <a:off x="6238875" y="3448050"/>
                  <a:ext cx="2095500" cy="304800"/>
                </a:xfrm>
                <a:prstGeom prst="rect">
                  <a:avLst/>
                </a:prstGeom>
                <a:solidFill>
                  <a:srgbClr val="FF4765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249833" y="3528060"/>
                  <a:ext cx="207358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🐍 Python / Java 通关词汇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232398" y="3910489"/>
                  <a:ext cx="299415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主流开发语言关键字 · 异常 · 框架 API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233541" y="4220528"/>
                  <a:ext cx="4044506" cy="4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覆盖常见编程语法关键字、Exception 异常类型命名、设计模式、</a:t>
                  </a:r>
                  <a:br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主流 Spring/Django 框架常用 API 词汇，写出地道优美的代码命名。</a:t>
                  </a:r>
                </a:p>
              </p:txBody>
            </p:sp>
          </p:grpSp>
          <p:grpSp>
            <p:nvGrpSpPr>
              <p:cNvPr id="49" name="geek-c3"/>
              <p:cNvGrpSpPr/>
              <p:nvPr/>
            </p:nvGrpSpPr>
            <p:grpSpPr>
              <a:xfrm>
                <a:off x="6000750" y="4857750"/>
                <a:ext cx="5619750" cy="1466850"/>
                <a:chOff x="6000750" y="4857750"/>
                <a:chExt cx="5619750" cy="1466850"/>
              </a:xfrm>
            </p:grpSpPr>
            <p:sp>
              <p:nvSpPr>
                <p:cNvPr id="43" name="Rectangle 43"/>
                <p:cNvSpPr/>
                <p:nvPr/>
              </p:nvSpPr>
              <p:spPr>
                <a:xfrm>
                  <a:off x="6038850" y="4895850"/>
                  <a:ext cx="5581650" cy="1428750"/>
                </a:xfrm>
                <a:prstGeom prst="rect">
                  <a:avLst/>
                </a:prstGeom>
                <a:solidFill>
                  <a:srgbClr val="181A24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000750" y="4857750"/>
                  <a:ext cx="5581650" cy="1428750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181A24"/>
                  </a:solidFill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6238875" y="5067300"/>
                  <a:ext cx="2095500" cy="304800"/>
                </a:xfrm>
                <a:prstGeom prst="rect">
                  <a:avLst/>
                </a:prstGeom>
                <a:solidFill>
                  <a:srgbClr val="181A24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275908" y="5147310"/>
                  <a:ext cx="202143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FA800"/>
                      </a:solidFill>
                      <a:latin typeface="+mn-lt"/>
                      <a:ea typeface="+mn-ea"/>
                      <a:cs typeface="+mn-cs"/>
                    </a:rPr>
                    <a:t>📑 NAWL 国际学术论文词汇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232398" y="5529739"/>
                  <a:ext cx="339829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New Academic Word List (学术通用词表)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233541" y="5839778"/>
                  <a:ext cx="4264533" cy="4149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650"/>
                    </a:lnSpc>
                  </a:pPr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针对撰写 arXiv 论文、研读 AI/大模型顶会技术白皮书（NeurIPS/ICLR）</a:t>
                  </a:r>
                  <a:br/>
                  <a:r>
                    <a:rPr lang="zh-CN" sz="105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高频学术词汇表，帮助工程师无障碍汲取全球前沿技术文献。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7318629" cy="1147001"/>
            <a:chOff x="557022" y="285750"/>
            <a:chExt cx="7318629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FFA8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25454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181A24"/>
                  </a:solidFill>
                  <a:latin typeface="Courier New"/>
                  <a:ea typeface="Courier New"/>
                  <a:cs typeface="Courier New"/>
                </a:rPr>
                <a:t>CHAPTER 07 / TOOL ECOSYSTEM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73186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软件导入指南：无缝连接主流间隔记忆神器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5628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4765"/>
                  </a:solidFill>
                  <a:latin typeface="+mn-lt"/>
                  <a:ea typeface="+mn-ea"/>
                  <a:cs typeface="+mn-cs"/>
                </a:rPr>
                <a:t>全量词库采用通用标准化格式，1 分钟导入手机与桌面端随时随地刷词</a:t>
              </a:r>
            </a:p>
          </p:txBody>
        </p:sp>
      </p:grpSp>
      <p:grpSp>
        <p:nvGrpSpPr>
          <p:cNvPr id="53" name="software-cards-zone"/>
          <p:cNvGrpSpPr/>
          <p:nvPr/>
        </p:nvGrpSpPr>
        <p:grpSpPr>
          <a:xfrm>
            <a:off x="571500" y="1619250"/>
            <a:ext cx="11087100" cy="3657600"/>
            <a:chOff x="571500" y="1619250"/>
            <a:chExt cx="11087100" cy="3657600"/>
          </a:xfrm>
        </p:grpSpPr>
        <p:grpSp>
          <p:nvGrpSpPr>
            <p:cNvPr id="22" name="tool-anki"/>
            <p:cNvGrpSpPr/>
            <p:nvPr/>
          </p:nvGrpSpPr>
          <p:grpSpPr>
            <a:xfrm>
              <a:off x="571500" y="1619250"/>
              <a:ext cx="3467100" cy="3657600"/>
              <a:chOff x="571500" y="1619250"/>
              <a:chExt cx="3467100" cy="36576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3429000" cy="36195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3429000" cy="36195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619250"/>
                <a:ext cx="3429000" cy="57150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06768" y="1803082"/>
                <a:ext cx="29584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📱 导入 Anki (记忆曲线神器)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803910" y="2355056"/>
                <a:ext cx="2572497" cy="2029778"/>
                <a:chOff x="803910" y="2355056"/>
                <a:chExt cx="2572497" cy="2029778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803910" y="2355056"/>
                  <a:ext cx="106685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操作极简步骤：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03910" y="2640806"/>
                  <a:ext cx="159985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1. 将 Excel 词库另存为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94410" y="2878931"/>
                  <a:ext cx="228697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006B7B"/>
                      </a:solidFill>
                      <a:latin typeface="+mn-lt"/>
                      <a:ea typeface="+mn-ea"/>
                      <a:cs typeface="+mn-cs"/>
                    </a:rPr>
                    <a:t>CSV (UTF-8 逗号分隔) (*.csv)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03910" y="3164681"/>
                  <a:ext cx="257249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2. 打开 Anki 点击「文件」➔「导入」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03910" y="3450431"/>
                  <a:ext cx="127793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3. 字段映射配置：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94410" y="3688556"/>
                  <a:ext cx="212534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0904" indent="-120904">
                    <a:buClr>
                      <a:srgbClr val="475569"/>
                    </a:buClr>
                    <a:buSzTx/>
                    <a:buFontTx/>
                    <a:buChar char="•"/>
                  </a:pPr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字段 1 ➔ Front (正面/英文)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94410" y="3926681"/>
                  <a:ext cx="19495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0904" indent="-120904">
                    <a:buClr>
                      <a:srgbClr val="475569"/>
                    </a:buClr>
                    <a:buSzTx/>
                    <a:buFontTx/>
                    <a:buChar char="•"/>
                  </a:pPr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字段 2 ➔ Phonetic (音标)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94410" y="4164806"/>
                  <a:ext cx="204382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120904" indent="-120904">
                    <a:buClr>
                      <a:srgbClr val="475569"/>
                    </a:buClr>
                    <a:buSzTx/>
                    <a:buFontTx/>
                    <a:buChar char="•"/>
                  </a:pPr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字段 3 ➔ Back (背面/释义)</a:t>
                  </a:r>
                </a:p>
              </p:txBody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809625" y="4572000"/>
                <a:ext cx="2952750" cy="428625"/>
              </a:xfrm>
              <a:prstGeom prst="rect">
                <a:avLst/>
              </a:prstGeom>
              <a:solidFill>
                <a:srgbClr val="E1F2F5"/>
              </a:solidFill>
              <a:ln w="14288">
                <a:solidFill>
                  <a:srgbClr val="006B7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21961" y="4717256"/>
                <a:ext cx="23280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006B7B"/>
                    </a:solidFill>
                    <a:latin typeface="+mn-lt"/>
                    <a:ea typeface="+mn-ea"/>
                    <a:cs typeface="+mn-cs"/>
                  </a:rPr>
                  <a:t>★ 艾宾浩斯间隔复习，抗遗忘利器</a:t>
                </a:r>
              </a:p>
            </p:txBody>
          </p:sp>
        </p:grpSp>
        <p:grpSp>
          <p:nvGrpSpPr>
            <p:cNvPr id="37" name="tool-quizlet"/>
            <p:cNvGrpSpPr/>
            <p:nvPr/>
          </p:nvGrpSpPr>
          <p:grpSpPr>
            <a:xfrm>
              <a:off x="4381500" y="1619250"/>
              <a:ext cx="3467100" cy="3657600"/>
              <a:chOff x="4381500" y="1619250"/>
              <a:chExt cx="3467100" cy="36576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419600" y="1657350"/>
                <a:ext cx="3429000" cy="36195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81500" y="1619250"/>
                <a:ext cx="3429000" cy="36195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81500" y="1619250"/>
                <a:ext cx="3429000" cy="57150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652992" y="1803082"/>
                <a:ext cx="28860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📝 导入 Quizlet (卡片快刷)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4613910" y="2355056"/>
                <a:ext cx="2964129" cy="1886903"/>
                <a:chOff x="4613910" y="2355056"/>
                <a:chExt cx="2964129" cy="1886903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4613910" y="2355056"/>
                  <a:ext cx="106685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操作极简步骤：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613910" y="2640806"/>
                  <a:ext cx="296412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1. 登录 Quizlet 点击「创建」➔「学习集」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613910" y="2926556"/>
                  <a:ext cx="264764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2. 点击卡片下方「从表格/Excel导入」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613910" y="3212306"/>
                  <a:ext cx="205217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3. 在 Excel 词库中复制两列：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804410" y="3450431"/>
                  <a:ext cx="136840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FF4765"/>
                      </a:solidFill>
                      <a:latin typeface="+mn-lt"/>
                      <a:ea typeface="+mn-ea"/>
                      <a:cs typeface="+mn-cs"/>
                    </a:rPr>
                    <a:t>「单词」与「释义」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613910" y="3736181"/>
                  <a:ext cx="263490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4. 粘贴至文本框，分隔符选「制表符」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613910" y="4021931"/>
                  <a:ext cx="2333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5. 点击「导入」并保存学习集即可</a:t>
                  </a:r>
                </a:p>
              </p:txBody>
            </p:sp>
          </p:grpSp>
          <p:sp>
            <p:nvSpPr>
              <p:cNvPr id="35" name="Rectangle 35"/>
              <p:cNvSpPr/>
              <p:nvPr/>
            </p:nvSpPr>
            <p:spPr>
              <a:xfrm>
                <a:off x="4619625" y="4572000"/>
                <a:ext cx="2952750" cy="428625"/>
              </a:xfrm>
              <a:prstGeom prst="rect">
                <a:avLst/>
              </a:prstGeom>
              <a:solidFill>
                <a:srgbClr val="FFE8EC"/>
              </a:solidFill>
              <a:ln w="14288">
                <a:solidFill>
                  <a:srgbClr val="FF4765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931961" y="4717256"/>
                <a:ext cx="23280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4765"/>
                    </a:solidFill>
                    <a:latin typeface="+mn-lt"/>
                    <a:ea typeface="+mn-ea"/>
                    <a:cs typeface="+mn-cs"/>
                  </a:rPr>
                  <a:t>★ 手机端随时随地划词与拼写自测</a:t>
                </a:r>
              </a:p>
            </p:txBody>
          </p:sp>
        </p:grpSp>
        <p:grpSp>
          <p:nvGrpSpPr>
            <p:cNvPr id="52" name="tool-eudic"/>
            <p:cNvGrpSpPr/>
            <p:nvPr/>
          </p:nvGrpSpPr>
          <p:grpSpPr>
            <a:xfrm>
              <a:off x="8191500" y="1619250"/>
              <a:ext cx="3467100" cy="3657600"/>
              <a:chOff x="8191500" y="1619250"/>
              <a:chExt cx="3467100" cy="3657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229600" y="1657350"/>
                <a:ext cx="3429000" cy="361950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191500" y="1619250"/>
                <a:ext cx="3429000" cy="361950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191500" y="1619250"/>
                <a:ext cx="3429000" cy="57150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811437" y="1803082"/>
                <a:ext cx="21891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A800"/>
                    </a:solidFill>
                    <a:latin typeface="+mn-lt"/>
                    <a:ea typeface="+mn-ea"/>
                    <a:cs typeface="+mn-cs"/>
                  </a:rPr>
                  <a:t>📖 欧路 / 有道 / 扇贝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8423910" y="2355056"/>
                <a:ext cx="3066644" cy="1791653"/>
                <a:chOff x="8423910" y="2355056"/>
                <a:chExt cx="3066644" cy="1791653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8423910" y="2355056"/>
                  <a:ext cx="15191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各词典软件原生直导：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423910" y="2640806"/>
                  <a:ext cx="160079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 xml:space="preserve">1. </a:t>
                  </a:r>
                  <a:r>
                    <a:rPr lang="zh-CN" sz="112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欧路词典 (Eudic)</a:t>
                  </a:r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：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614410" y="2878931"/>
                  <a:ext cx="287614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进入「生词本」➔「管理」➔「导入生词」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614410" y="3098006"/>
                  <a:ext cx="259496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原生直接解析 Excel 格式，一秒载入！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423910" y="3450431"/>
                  <a:ext cx="176154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 xml:space="preserve">2. </a:t>
                  </a:r>
                  <a:r>
                    <a:rPr lang="zh-CN" sz="112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有道词典 / 扇贝单词</a:t>
                  </a:r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：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8614410" y="3688556"/>
                  <a:ext cx="209211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将生词导出为单列 .txt 纯文本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614410" y="3926681"/>
                  <a:ext cx="257459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475569"/>
                      </a:solidFill>
                      <a:latin typeface="+mn-lt"/>
                      <a:ea typeface="+mn-ea"/>
                      <a:cs typeface="+mn-cs"/>
                    </a:rPr>
                    <a:t>桌面端一键导入生词本，多端自动同步</a:t>
                  </a:r>
                </a:p>
              </p:txBody>
            </p:sp>
          </p:grpSp>
          <p:sp>
            <p:nvSpPr>
              <p:cNvPr id="50" name="Rectangle 50"/>
              <p:cNvSpPr/>
              <p:nvPr/>
            </p:nvSpPr>
            <p:spPr>
              <a:xfrm>
                <a:off x="8429625" y="4572000"/>
                <a:ext cx="2952750" cy="428625"/>
              </a:xfrm>
              <a:prstGeom prst="rect">
                <a:avLst/>
              </a:prstGeom>
              <a:solidFill>
                <a:srgbClr val="FFF4D9"/>
              </a:solidFill>
              <a:ln w="14288">
                <a:solidFill>
                  <a:srgbClr val="181A24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817348" y="4717256"/>
                <a:ext cx="2177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★ 多端无缝同步，随时查词复习</a:t>
                </a:r>
              </a:p>
            </p:txBody>
          </p:sp>
        </p:grpSp>
      </p:grpSp>
      <p:grpSp>
        <p:nvGrpSpPr>
          <p:cNvPr id="59" name="data-schema-zone"/>
          <p:cNvGrpSpPr/>
          <p:nvPr/>
        </p:nvGrpSpPr>
        <p:grpSpPr>
          <a:xfrm>
            <a:off x="571500" y="5476875"/>
            <a:ext cx="11049000" cy="904875"/>
            <a:chOff x="571500" y="5476875"/>
            <a:chExt cx="11049000" cy="904875"/>
          </a:xfrm>
        </p:grpSpPr>
        <p:sp>
          <p:nvSpPr>
            <p:cNvPr id="54" name="Rectangle 54"/>
            <p:cNvSpPr/>
            <p:nvPr/>
          </p:nvSpPr>
          <p:spPr>
            <a:xfrm>
              <a:off x="571500" y="5476875"/>
              <a:ext cx="11049000" cy="904875"/>
            </a:xfrm>
            <a:prstGeom prst="rect">
              <a:avLst/>
            </a:prstGeom>
            <a:solidFill>
              <a:srgbClr val="181A24"/>
            </a:solidFill>
            <a:ln w="19050">
              <a:solidFill>
                <a:srgbClr val="181A2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0392" y="5664518"/>
              <a:ext cx="3688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A800"/>
                  </a:solidFill>
                  <a:latin typeface="+mn-lt"/>
                  <a:ea typeface="+mn-ea"/>
                  <a:cs typeface="+mn-cs"/>
                </a:rPr>
                <a:t>📋 词库统一数据规范标准 (Data Schema)：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916" y="6001702"/>
              <a:ext cx="8519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AF6EE"/>
                  </a:solidFill>
                  <a:latin typeface="Courier New"/>
                  <a:ea typeface="Microsoft YaHei"/>
                  <a:cs typeface="Courier New"/>
                </a:rPr>
                <a:t>[Word: String] resilience • [Phonetic: IPA] /rɪˈzɪliəns/ • [Definition: String] n. 恢复力；弹力；适应力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906000" y="5667375"/>
              <a:ext cx="1428750" cy="523875"/>
            </a:xfrm>
            <a:prstGeom prst="rect">
              <a:avLst/>
            </a:prstGeom>
            <a:solidFill>
              <a:srgbClr val="FF476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099388" y="5860256"/>
              <a:ext cx="1041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AF6EE"/>
                  </a:solidFill>
                  <a:latin typeface="+mn-lt"/>
                  <a:ea typeface="+mn-ea"/>
                  <a:cs typeface="+mn-cs"/>
                </a:rPr>
                <a:t>100% 格式无错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-zone"/>
          <p:cNvGrpSpPr/>
          <p:nvPr/>
        </p:nvGrpSpPr>
        <p:grpSpPr>
          <a:xfrm>
            <a:off x="557022" y="285750"/>
            <a:ext cx="6167628" cy="1147001"/>
            <a:chOff x="557022" y="285750"/>
            <a:chExt cx="6167628" cy="1147001"/>
          </a:xfrm>
        </p:grpSpPr>
        <p:sp>
          <p:nvSpPr>
            <p:cNvPr id="2" name="Rectangle 2"/>
            <p:cNvSpPr/>
            <p:nvPr/>
          </p:nvSpPr>
          <p:spPr>
            <a:xfrm>
              <a:off x="571500" y="285750"/>
              <a:ext cx="2286000" cy="285750"/>
            </a:xfrm>
            <a:prstGeom prst="rect">
              <a:avLst/>
            </a:prstGeom>
            <a:solidFill>
              <a:srgbClr val="006B7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422" y="380524"/>
              <a:ext cx="1885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FAF6EE"/>
                  </a:solidFill>
                  <a:latin typeface="Courier New"/>
                  <a:ea typeface="Courier New"/>
                  <a:cs typeface="Courier New"/>
                </a:rPr>
                <a:t>CHAPTER 08 / ROADMAP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022" y="692468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81A24"/>
                  </a:solidFill>
                  <a:latin typeface="+mn-lt"/>
                  <a:ea typeface="+mn-ea"/>
                  <a:cs typeface="+mn-cs"/>
                </a:rPr>
                <a:t>项目演进路线图与全球社区协作网络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4642" y="116871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4765"/>
                  </a:solidFill>
                  <a:latin typeface="+mn-lt"/>
                  <a:ea typeface="+mn-ea"/>
                  <a:cs typeface="+mn-cs"/>
                </a:rPr>
                <a:t>人人为我，我为人人：集全球学习者智慧，持续打磨卓越词汇资产</a:t>
              </a:r>
            </a:p>
          </p:txBody>
        </p:sp>
      </p:grpSp>
      <p:grpSp>
        <p:nvGrpSpPr>
          <p:cNvPr id="71" name="roadmap-body-zone"/>
          <p:cNvGrpSpPr/>
          <p:nvPr/>
        </p:nvGrpSpPr>
        <p:grpSpPr>
          <a:xfrm>
            <a:off x="571500" y="1619250"/>
            <a:ext cx="11049000" cy="4705350"/>
            <a:chOff x="571500" y="1619250"/>
            <a:chExt cx="11049000" cy="4705350"/>
          </a:xfrm>
        </p:grpSpPr>
        <p:grpSp>
          <p:nvGrpSpPr>
            <p:cNvPr id="39" name="roadmap-left"/>
            <p:cNvGrpSpPr/>
            <p:nvPr/>
          </p:nvGrpSpPr>
          <p:grpSpPr>
            <a:xfrm>
              <a:off x="571500" y="1619250"/>
              <a:ext cx="5372100" cy="4705350"/>
              <a:chOff x="571500" y="1619250"/>
              <a:chExt cx="5372100" cy="47053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657350"/>
                <a:ext cx="5334000" cy="46672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619250"/>
                <a:ext cx="533400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57250" y="1857375"/>
                <a:ext cx="2476500" cy="36195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86064" y="1959292"/>
                <a:ext cx="22188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🗺️ 项目路线图 (Roadmap)</a:t>
                </a:r>
              </a:p>
            </p:txBody>
          </p:sp>
          <p:grpSp>
            <p:nvGrpSpPr>
              <p:cNvPr id="14" name="rm-done-1"/>
              <p:cNvGrpSpPr/>
              <p:nvPr/>
            </p:nvGrpSpPr>
            <p:grpSpPr>
              <a:xfrm>
                <a:off x="857250" y="2428875"/>
                <a:ext cx="3478783" cy="292703"/>
                <a:chOff x="857250" y="2428875"/>
                <a:chExt cx="3478783" cy="292703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857250" y="2428875"/>
                  <a:ext cx="247650" cy="24765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90168" y="2480310"/>
                  <a:ext cx="18181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231773" y="2472214"/>
                  <a:ext cx="3104260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完成 960+ 词书全景盘点与分类索引搭建</a:t>
                  </a:r>
                </a:p>
              </p:txBody>
            </p:sp>
          </p:grpSp>
          <p:grpSp>
            <p:nvGrpSpPr>
              <p:cNvPr id="18" name="rm-done-2"/>
              <p:cNvGrpSpPr/>
              <p:nvPr/>
            </p:nvGrpSpPr>
            <p:grpSpPr>
              <a:xfrm>
                <a:off x="857250" y="2905125"/>
                <a:ext cx="3896213" cy="292703"/>
                <a:chOff x="857250" y="2905125"/>
                <a:chExt cx="3896213" cy="292703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857250" y="2905125"/>
                  <a:ext cx="247650" cy="24765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90168" y="2956560"/>
                  <a:ext cx="18181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231773" y="2948464"/>
                  <a:ext cx="3521690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深度集成新概念全套词库与 108 篇讲义合订本</a:t>
                  </a:r>
                </a:p>
              </p:txBody>
            </p:sp>
          </p:grpSp>
          <p:grpSp>
            <p:nvGrpSpPr>
              <p:cNvPr id="22" name="rm-done-3"/>
              <p:cNvGrpSpPr/>
              <p:nvPr/>
            </p:nvGrpSpPr>
            <p:grpSpPr>
              <a:xfrm>
                <a:off x="857250" y="3381375"/>
                <a:ext cx="3868643" cy="292703"/>
                <a:chOff x="857250" y="3381375"/>
                <a:chExt cx="3868643" cy="292703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857250" y="3381375"/>
                  <a:ext cx="247650" cy="247650"/>
                </a:xfrm>
                <a:prstGeom prst="rect">
                  <a:avLst/>
                </a:prstGeom>
                <a:solidFill>
                  <a:srgbClr val="006B7B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90168" y="3432810"/>
                  <a:ext cx="18181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FAF6EE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231773" y="3424714"/>
                  <a:ext cx="3494120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建立大厂标准多语言文档体系 (中/英/日/西)</a:t>
                  </a:r>
                </a:p>
              </p:txBody>
            </p:sp>
          </p:grpSp>
          <p:sp>
            <p:nvSpPr>
              <p:cNvPr id="23" name="Line 23"/>
              <p:cNvSpPr/>
              <p:nvPr/>
            </p:nvSpPr>
            <p:spPr>
              <a:xfrm>
                <a:off x="857250" y="3810000"/>
                <a:ext cx="466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67250" h="9525">
                    <a:moveTo>
                      <a:pt x="0" y="0"/>
                    </a:moveTo>
                    <a:lnTo>
                      <a:pt x="46672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  <a:custDash>
                  <a:ds d="300000" sp="200000"/>
                </a:custDash>
              </a:ln>
            </p:spPr>
          </p:sp>
          <p:grpSp>
            <p:nvGrpSpPr>
              <p:cNvPr id="28" name="rm-fut-1"/>
              <p:cNvGrpSpPr/>
              <p:nvPr/>
            </p:nvGrpSpPr>
            <p:grpSpPr>
              <a:xfrm>
                <a:off x="857250" y="4000500"/>
                <a:ext cx="4164867" cy="520637"/>
                <a:chOff x="857250" y="4000500"/>
                <a:chExt cx="4164867" cy="520637"/>
              </a:xfrm>
            </p:grpSpPr>
            <p:sp>
              <p:nvSpPr>
                <p:cNvPr id="24" name="Rectangle 24"/>
                <p:cNvSpPr/>
                <p:nvPr/>
              </p:nvSpPr>
              <p:spPr>
                <a:xfrm>
                  <a:off x="857250" y="4000500"/>
                  <a:ext cx="247650" cy="247650"/>
                </a:xfrm>
                <a:prstGeom prst="rect">
                  <a:avLst/>
                </a:prstGeom>
                <a:solidFill>
                  <a:srgbClr val="FFA800"/>
                </a:solidFill>
                <a:ln w="19050">
                  <a:solidFill>
                    <a:srgbClr val="181A24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28333" y="405193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231773" y="4043839"/>
                  <a:ext cx="3790344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自动化构建工具：一键批量转 Anki .apkg 卡牌包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232916" y="4315778"/>
                  <a:ext cx="34474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+mn-lt"/>
                      <a:ea typeface="+mn-ea"/>
                      <a:cs typeface="+mn-cs"/>
                    </a:rPr>
                    <a:t>开发开源 Python 编译脚本，免去手动导出 CSV 的繁琐</a:t>
                  </a:r>
                </a:p>
              </p:txBody>
            </p:sp>
          </p:grpSp>
          <p:grpSp>
            <p:nvGrpSpPr>
              <p:cNvPr id="33" name="rm-fut-2"/>
              <p:cNvGrpSpPr/>
              <p:nvPr/>
            </p:nvGrpSpPr>
            <p:grpSpPr>
              <a:xfrm>
                <a:off x="857250" y="4762500"/>
                <a:ext cx="3778758" cy="520637"/>
                <a:chOff x="857250" y="4762500"/>
                <a:chExt cx="3778758" cy="520637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857250" y="4762500"/>
                  <a:ext cx="247650" cy="247650"/>
                </a:xfrm>
                <a:prstGeom prst="rect">
                  <a:avLst/>
                </a:prstGeom>
                <a:solidFill>
                  <a:srgbClr val="FFA800"/>
                </a:solidFill>
                <a:ln w="19050">
                  <a:solidFill>
                    <a:srgbClr val="181A24"/>
                  </a:solidFill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28333" y="481393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31773" y="4805839"/>
                  <a:ext cx="3162131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AI 词库精校工程：大模型与社区协作纠偏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232916" y="5077778"/>
                  <a:ext cx="340309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+mn-lt"/>
                      <a:ea typeface="+mn-ea"/>
                      <a:cs typeface="+mn-cs"/>
                    </a:rPr>
                    <a:t>利用大语言模型全面审查历史词库中生僻义与缺失音标</a:t>
                  </a:r>
                </a:p>
              </p:txBody>
            </p:sp>
          </p:grpSp>
          <p:grpSp>
            <p:nvGrpSpPr>
              <p:cNvPr id="38" name="rm-fut-3"/>
              <p:cNvGrpSpPr/>
              <p:nvPr/>
            </p:nvGrpSpPr>
            <p:grpSpPr>
              <a:xfrm>
                <a:off x="857250" y="5524500"/>
                <a:ext cx="4199714" cy="520637"/>
                <a:chOff x="857250" y="5524500"/>
                <a:chExt cx="4199714" cy="520637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857250" y="5524500"/>
                  <a:ext cx="247650" cy="247650"/>
                </a:xfrm>
                <a:prstGeom prst="rect">
                  <a:avLst/>
                </a:prstGeom>
                <a:solidFill>
                  <a:srgbClr val="FFA800"/>
                </a:solidFill>
                <a:ln w="19050">
                  <a:solidFill>
                    <a:srgbClr val="181A24"/>
                  </a:solidFill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28333" y="5575935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231773" y="5567839"/>
                  <a:ext cx="3825191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rgbClr val="181A24"/>
                      </a:solidFill>
                      <a:latin typeface="+mn-lt"/>
                      <a:ea typeface="+mn-ea"/>
                      <a:cs typeface="+mn-cs"/>
                    </a:rPr>
                    <a:t>Web 在线词典检索器：GitHub Pages 纯前端工具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32916" y="5839778"/>
                  <a:ext cx="379887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4748B"/>
                      </a:solidFill>
                      <a:latin typeface="+mn-lt"/>
                      <a:ea typeface="+mn-ea"/>
                      <a:cs typeface="+mn-cs"/>
                    </a:rPr>
                    <a:t>免下载免安装，直接在浏览器中即时检索 960+ 词书收录情况</a:t>
                  </a:r>
                </a:p>
              </p:txBody>
            </p:sp>
          </p:grpSp>
        </p:grpSp>
        <p:grpSp>
          <p:nvGrpSpPr>
            <p:cNvPr id="70" name="community-right"/>
            <p:cNvGrpSpPr/>
            <p:nvPr/>
          </p:nvGrpSpPr>
          <p:grpSpPr>
            <a:xfrm>
              <a:off x="6191250" y="1619250"/>
              <a:ext cx="5429250" cy="4705350"/>
              <a:chOff x="6191250" y="1619250"/>
              <a:chExt cx="5429250" cy="47053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29350" y="1657350"/>
                <a:ext cx="5391150" cy="466725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191250" y="1619250"/>
                <a:ext cx="5391150" cy="46672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477000" y="1857375"/>
                <a:ext cx="2667000" cy="361950"/>
              </a:xfrm>
              <a:prstGeom prst="rect">
                <a:avLst/>
              </a:prstGeom>
              <a:solidFill>
                <a:srgbClr val="FF476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752066" y="1959292"/>
                <a:ext cx="21168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AF6EE"/>
                    </a:solidFill>
                    <a:latin typeface="+mn-lt"/>
                    <a:ea typeface="+mn-ea"/>
                    <a:cs typeface="+mn-cs"/>
                  </a:rPr>
                  <a:t>🤝 极简 5 步参与社区贡献</a:t>
                </a:r>
              </a:p>
            </p:txBody>
          </p:sp>
          <p:grpSp>
            <p:nvGrpSpPr>
              <p:cNvPr id="69" name="Group 69"/>
              <p:cNvGrpSpPr/>
              <p:nvPr/>
            </p:nvGrpSpPr>
            <p:grpSpPr>
              <a:xfrm>
                <a:off x="6562725" y="2466975"/>
                <a:ext cx="3791057" cy="3298984"/>
                <a:chOff x="6562725" y="2466975"/>
                <a:chExt cx="3791057" cy="3298984"/>
              </a:xfrm>
            </p:grpSpPr>
            <p:grpSp>
              <p:nvGrpSpPr>
                <p:cNvPr id="48" name="step-1"/>
                <p:cNvGrpSpPr/>
                <p:nvPr/>
              </p:nvGrpSpPr>
              <p:grpSpPr>
                <a:xfrm>
                  <a:off x="6562725" y="2466975"/>
                  <a:ext cx="3441715" cy="441484"/>
                  <a:chOff x="6562725" y="2466975"/>
                  <a:chExt cx="3441715" cy="441484"/>
                </a:xfrm>
              </p:grpSpPr>
              <p:sp>
                <p:nvSpPr>
                  <p:cNvPr id="44" name="Ellipse 44"/>
                  <p:cNvSpPr/>
                  <p:nvPr/>
                </p:nvSpPr>
                <p:spPr>
                  <a:xfrm>
                    <a:off x="6562725" y="2466975"/>
                    <a:ext cx="304800" cy="304800"/>
                  </a:xfrm>
                  <a:prstGeom prst="ellipse">
                    <a:avLst/>
                  </a:prstGeom>
                  <a:solidFill>
                    <a:srgbClr val="181A24"/>
                  </a:solidFill>
                  <a:ln>
                    <a:noFill/>
                  </a:ln>
                </p:spPr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6665874" y="2555081"/>
                    <a:ext cx="9850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120" b="1" dirty="0">
                        <a:solidFill>
                          <a:srgbClr val="FAF6EE"/>
                        </a:solidFill>
                        <a:latin typeface="+mn-lt"/>
                        <a:ea typeface="+mn-ea"/>
                        <a:cs typeface="+mn-cs"/>
                      </a:rPr>
                      <a:t>1</a:t>
                    </a:r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6995160" y="2469356"/>
                    <a:ext cx="2207754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181A24"/>
                        </a:solidFill>
                        <a:latin typeface="+mn-lt"/>
                        <a:ea typeface="+mn-ea"/>
                        <a:cs typeface="+mn-cs"/>
                      </a:rPr>
                      <a:t>Fork 本仓库到个人 GitHub 账号</a:t>
                    </a:r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6995160" y="2688431"/>
                    <a:ext cx="3009280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120" dirty="0">
                        <a:solidFill>
                          <a:srgbClr val="64748B"/>
                        </a:solidFill>
                        <a:latin typeface="Courier New"/>
                        <a:ea typeface="Courier New"/>
                        <a:cs typeface="Courier New"/>
                      </a:rPr>
                      <a:t>github.com/lilinji/English ➔ Fork</a:t>
                    </a:r>
                  </a:p>
                </p:txBody>
              </p:sp>
            </p:grpSp>
            <p:grpSp>
              <p:nvGrpSpPr>
                <p:cNvPr id="53" name="step-2"/>
                <p:cNvGrpSpPr/>
                <p:nvPr/>
              </p:nvGrpSpPr>
              <p:grpSpPr>
                <a:xfrm>
                  <a:off x="6562725" y="3181350"/>
                  <a:ext cx="3791057" cy="441484"/>
                  <a:chOff x="6562725" y="3181350"/>
                  <a:chExt cx="3791057" cy="441484"/>
                </a:xfrm>
              </p:grpSpPr>
              <p:sp>
                <p:nvSpPr>
                  <p:cNvPr id="49" name="Ellipse 49"/>
                  <p:cNvSpPr/>
                  <p:nvPr/>
                </p:nvSpPr>
                <p:spPr>
                  <a:xfrm>
                    <a:off x="6562725" y="3181350"/>
                    <a:ext cx="304800" cy="304800"/>
                  </a:xfrm>
                  <a:prstGeom prst="ellipse">
                    <a:avLst/>
                  </a:prstGeom>
                  <a:solidFill>
                    <a:srgbClr val="181A24"/>
                  </a:solidFill>
                  <a:ln>
                    <a:noFill/>
                  </a:ln>
                </p:spPr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6665874" y="3269456"/>
                    <a:ext cx="9850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120" b="1" dirty="0">
                        <a:solidFill>
                          <a:srgbClr val="FAF6EE"/>
                        </a:solidFill>
                        <a:latin typeface="+mn-lt"/>
                        <a:ea typeface="+mn-ea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6995160" y="3183731"/>
                    <a:ext cx="1971497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181A24"/>
                        </a:solidFill>
                        <a:latin typeface="+mn-lt"/>
                        <a:ea typeface="+mn-ea"/>
                        <a:cs typeface="+mn-cs"/>
                      </a:rPr>
                      <a:t>新建特性分支进行编辑与勘误</a:t>
                    </a:r>
                  </a:p>
                </p:txBody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6995160" y="3402806"/>
                    <a:ext cx="335862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120" dirty="0">
                        <a:solidFill>
                          <a:srgbClr val="64748B"/>
                        </a:solidFill>
                        <a:latin typeface="Courier New"/>
                        <a:ea typeface="Courier New"/>
                        <a:cs typeface="Courier New"/>
                      </a:rPr>
                      <a:t>git checkout -b feature/fix-phonetics</a:t>
                    </a:r>
                  </a:p>
                </p:txBody>
              </p:sp>
            </p:grpSp>
            <p:grpSp>
              <p:nvGrpSpPr>
                <p:cNvPr id="58" name="step-3"/>
                <p:cNvGrpSpPr/>
                <p:nvPr/>
              </p:nvGrpSpPr>
              <p:grpSpPr>
                <a:xfrm>
                  <a:off x="6562725" y="3895725"/>
                  <a:ext cx="3640282" cy="441484"/>
                  <a:chOff x="6562725" y="3895725"/>
                  <a:chExt cx="3640282" cy="441484"/>
                </a:xfrm>
              </p:grpSpPr>
              <p:sp>
                <p:nvSpPr>
                  <p:cNvPr id="54" name="Ellipse 54"/>
                  <p:cNvSpPr/>
                  <p:nvPr/>
                </p:nvSpPr>
                <p:spPr>
                  <a:xfrm>
                    <a:off x="6562725" y="3895725"/>
                    <a:ext cx="304800" cy="304800"/>
                  </a:xfrm>
                  <a:prstGeom prst="ellipse">
                    <a:avLst/>
                  </a:prstGeom>
                  <a:solidFill>
                    <a:srgbClr val="181A24"/>
                  </a:solidFill>
                  <a:ln>
                    <a:noFill/>
                  </a:ln>
                </p:spPr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6665874" y="3983831"/>
                    <a:ext cx="9850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120" b="1" dirty="0">
                        <a:solidFill>
                          <a:srgbClr val="FAF6EE"/>
                        </a:solidFill>
                        <a:latin typeface="+mn-lt"/>
                        <a:ea typeface="+mn-ea"/>
                        <a:cs typeface="+mn-cs"/>
                      </a:rPr>
                      <a:t>3</a:t>
                    </a:r>
                  </a:p>
                </p:txBody>
              </p:sp>
              <p:sp>
                <p:nvSpPr>
                  <p:cNvPr id="56" name="TextBox 56"/>
                  <p:cNvSpPr txBox="1"/>
                  <p:nvPr/>
                </p:nvSpPr>
                <p:spPr>
                  <a:xfrm>
                    <a:off x="6995160" y="3898106"/>
                    <a:ext cx="1967675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181A24"/>
                        </a:solidFill>
                        <a:latin typeface="+mn-lt"/>
                        <a:ea typeface="+mn-ea"/>
                        <a:cs typeface="+mn-cs"/>
                      </a:rPr>
                      <a:t>提交符合规范的清晰 Commit</a:t>
                    </a:r>
                  </a:p>
                </p:txBody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6995160" y="4117181"/>
                    <a:ext cx="3207847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dirty="0">
                        <a:solidFill>
                          <a:srgbClr val="64748B"/>
                        </a:solidFill>
                        <a:latin typeface="Courier New"/>
                        <a:ea typeface="Microsoft YaHei"/>
                        <a:cs typeface="Courier New"/>
                      </a:rPr>
                      <a:t>git commit -m "docs: 纠正四级词库音标"</a:t>
                    </a:r>
                  </a:p>
                </p:txBody>
              </p:sp>
            </p:grpSp>
            <p:grpSp>
              <p:nvGrpSpPr>
                <p:cNvPr id="63" name="step-4"/>
                <p:cNvGrpSpPr/>
                <p:nvPr/>
              </p:nvGrpSpPr>
              <p:grpSpPr>
                <a:xfrm>
                  <a:off x="6562725" y="4610100"/>
                  <a:ext cx="3459353" cy="441484"/>
                  <a:chOff x="6562725" y="4610100"/>
                  <a:chExt cx="3459353" cy="441484"/>
                </a:xfrm>
              </p:grpSpPr>
              <p:sp>
                <p:nvSpPr>
                  <p:cNvPr id="59" name="Ellipse 59"/>
                  <p:cNvSpPr/>
                  <p:nvPr/>
                </p:nvSpPr>
                <p:spPr>
                  <a:xfrm>
                    <a:off x="6562725" y="4610100"/>
                    <a:ext cx="304800" cy="304800"/>
                  </a:xfrm>
                  <a:prstGeom prst="ellipse">
                    <a:avLst/>
                  </a:prstGeom>
                  <a:solidFill>
                    <a:srgbClr val="181A24"/>
                  </a:solidFill>
                  <a:ln>
                    <a:noFill/>
                  </a:ln>
                </p:spPr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6665874" y="4698206"/>
                    <a:ext cx="9850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120" b="1" dirty="0">
                        <a:solidFill>
                          <a:srgbClr val="FAF6EE"/>
                        </a:solidFill>
                        <a:latin typeface="+mn-lt"/>
                        <a:ea typeface="+mn-ea"/>
                        <a:cs typeface="+mn-cs"/>
                      </a:rPr>
                      <a:t>4</a:t>
                    </a:r>
                  </a:p>
                </p:txBody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6995160" y="4612481"/>
                    <a:ext cx="2249254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181A24"/>
                        </a:solidFill>
                        <a:latin typeface="+mn-lt"/>
                        <a:ea typeface="+mn-ea"/>
                        <a:cs typeface="+mn-cs"/>
                      </a:rPr>
                      <a:t>发起 Pull Request 等待审核合并</a:t>
                    </a:r>
                  </a:p>
                </p:txBody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6995160" y="4831556"/>
                    <a:ext cx="3026918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dirty="0">
                        <a:solidFill>
                          <a:srgbClr val="64748B"/>
                        </a:solidFill>
                        <a:latin typeface="+mn-lt"/>
                        <a:ea typeface="+mn-ea"/>
                        <a:cs typeface="+mn-cs"/>
                      </a:rPr>
                      <a:t>我们在验证后第一时间合并并计入贡献者名录</a:t>
                    </a:r>
                  </a:p>
                </p:txBody>
              </p:sp>
            </p:grpSp>
            <p:grpSp>
              <p:nvGrpSpPr>
                <p:cNvPr id="68" name="step-5"/>
                <p:cNvGrpSpPr/>
                <p:nvPr/>
              </p:nvGrpSpPr>
              <p:grpSpPr>
                <a:xfrm>
                  <a:off x="6562725" y="5324475"/>
                  <a:ext cx="3226257" cy="441484"/>
                  <a:chOff x="6562725" y="5324475"/>
                  <a:chExt cx="3226257" cy="441484"/>
                </a:xfrm>
              </p:grpSpPr>
              <p:sp>
                <p:nvSpPr>
                  <p:cNvPr id="64" name="Ellipse 64"/>
                  <p:cNvSpPr/>
                  <p:nvPr/>
                </p:nvSpPr>
                <p:spPr>
                  <a:xfrm>
                    <a:off x="6562725" y="5324475"/>
                    <a:ext cx="304800" cy="304800"/>
                  </a:xfrm>
                  <a:prstGeom prst="ellipse">
                    <a:avLst/>
                  </a:prstGeom>
                  <a:solidFill>
                    <a:srgbClr val="181A24"/>
                  </a:solidFill>
                  <a:ln>
                    <a:noFill/>
                  </a:ln>
                </p:spPr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6665874" y="5412581"/>
                    <a:ext cx="9850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120" b="1" dirty="0">
                        <a:solidFill>
                          <a:srgbClr val="FAF6EE"/>
                        </a:solidFill>
                        <a:latin typeface="+mn-lt"/>
                        <a:ea typeface="+mn-ea"/>
                        <a:cs typeface="+mn-cs"/>
                      </a:rPr>
                      <a:t>5</a:t>
                    </a:r>
                  </a:p>
                </p:txBody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6995160" y="5326856"/>
                    <a:ext cx="2793822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181A24"/>
                        </a:solidFill>
                        <a:latin typeface="+mn-lt"/>
                        <a:ea typeface="+mn-ea"/>
                        <a:cs typeface="+mn-cs"/>
                      </a:rPr>
                      <a:t>发现问题亦可在 GitHub Issues 随时反馈</a:t>
                    </a:r>
                  </a:p>
                </p:txBody>
              </p:sp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6995160" y="5545931"/>
                    <a:ext cx="2725369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dirty="0">
                        <a:solidFill>
                          <a:srgbClr val="64748B"/>
                        </a:solidFill>
                        <a:latin typeface="+mn-lt"/>
                        <a:ea typeface="+mn-ea"/>
                        <a:cs typeface="+mn-cs"/>
                      </a:rPr>
                      <a:t>共同构建全球最严谨的开源英语词汇标准</a:t>
                    </a:r>
                  </a:p>
                </p:txBody>
              </p:sp>
            </p:grp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p-tape-zone"/>
          <p:cNvGrpSpPr/>
          <p:nvPr/>
        </p:nvGrpSpPr>
        <p:grpSpPr>
          <a:xfrm>
            <a:off x="381000" y="190500"/>
            <a:ext cx="11391900" cy="438150"/>
            <a:chOff x="381000" y="190500"/>
            <a:chExt cx="11391900" cy="438150"/>
          </a:xfrm>
        </p:grpSpPr>
        <p:sp>
          <p:nvSpPr>
            <p:cNvPr id="2" name="Rectangle 2"/>
            <p:cNvSpPr/>
            <p:nvPr/>
          </p:nvSpPr>
          <p:spPr>
            <a:xfrm>
              <a:off x="419100" y="228600"/>
              <a:ext cx="11353800" cy="400050"/>
            </a:xfrm>
            <a:prstGeom prst="rect">
              <a:avLst/>
            </a:prstGeom>
            <a:solidFill>
              <a:srgbClr val="FF4765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81000" y="190500"/>
              <a:ext cx="11353800" cy="400050"/>
            </a:xfrm>
            <a:prstGeom prst="rect">
              <a:avLst/>
            </a:prstGeom>
            <a:solidFill>
              <a:srgbClr val="181A2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791767" y="334328"/>
              <a:ext cx="85322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spc="150" dirty="0">
                  <a:solidFill>
                    <a:srgbClr val="FFA800"/>
                  </a:solidFill>
                  <a:latin typeface="Courier New"/>
                  <a:ea typeface="Courier New"/>
                  <a:cs typeface="Courier New"/>
                </a:rPr>
                <a:t>★ REPO ARCHIVE CLOSING · EMPOWER YOUR LEARNING JOURNEY · ONE WORD AT A TIME ★</a:t>
              </a:r>
            </a:p>
          </p:txBody>
        </p:sp>
      </p:grpSp>
      <p:grpSp>
        <p:nvGrpSpPr>
          <p:cNvPr id="17" name="center-poster-zone"/>
          <p:cNvGrpSpPr/>
          <p:nvPr/>
        </p:nvGrpSpPr>
        <p:grpSpPr>
          <a:xfrm>
            <a:off x="952500" y="904875"/>
            <a:ext cx="10248900" cy="4133850"/>
            <a:chOff x="952500" y="904875"/>
            <a:chExt cx="10248900" cy="4133850"/>
          </a:xfrm>
        </p:grpSpPr>
        <p:sp>
          <p:nvSpPr>
            <p:cNvPr id="6" name="Rectangle 6"/>
            <p:cNvSpPr/>
            <p:nvPr/>
          </p:nvSpPr>
          <p:spPr>
            <a:xfrm>
              <a:off x="990600" y="942975"/>
              <a:ext cx="10210800" cy="4095750"/>
            </a:xfrm>
            <a:prstGeom prst="rect">
              <a:avLst/>
            </a:prstGeom>
            <a:solidFill>
              <a:srgbClr val="FF476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904875"/>
              <a:ext cx="10210800" cy="4095750"/>
            </a:xfrm>
            <a:prstGeom prst="rect">
              <a:avLst/>
            </a:prstGeom>
            <a:solidFill>
              <a:srgbClr val="006B7B"/>
            </a:solidFill>
            <a:ln w="38100">
              <a:solidFill>
                <a:srgbClr val="181A2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43000" y="1095375"/>
              <a:ext cx="9829800" cy="3714750"/>
            </a:xfrm>
            <a:prstGeom prst="rect">
              <a:avLst/>
            </a:prstGeom>
            <a:solidFill>
              <a:srgbClr val="FAF6EE"/>
            </a:solidFill>
            <a:ln w="19050">
              <a:solidFill>
                <a:srgbClr val="181A2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53500" y="1285875"/>
              <a:ext cx="1714500" cy="476250"/>
            </a:xfrm>
            <a:prstGeom prst="rect">
              <a:avLst/>
            </a:prstGeom>
            <a:solidFill>
              <a:srgbClr val="FFA800"/>
            </a:solidFill>
            <a:ln w="19050">
              <a:solidFill>
                <a:srgbClr val="181A2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23169" y="1469231"/>
              <a:ext cx="177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81A24"/>
                  </a:solidFill>
                  <a:latin typeface="Courier New"/>
                  <a:ea typeface="Courier New"/>
                  <a:cs typeface="Courier New"/>
                </a:rPr>
                <a:t>[ GITHUB: lilinji 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0061" y="1695450"/>
              <a:ext cx="74756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spc="75" dirty="0">
                  <a:solidFill>
                    <a:srgbClr val="181A24"/>
                  </a:solidFill>
                  <a:latin typeface="+mj-lt"/>
                  <a:ea typeface="+mj-ea"/>
                  <a:cs typeface="+mj-cs"/>
                </a:rPr>
                <a:t>EMPOWER YOUR LEARNING JOURNEY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97693" y="2296478"/>
              <a:ext cx="47204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spc="150" dirty="0">
                  <a:solidFill>
                    <a:srgbClr val="FF4765"/>
                  </a:solidFill>
                  <a:latin typeface="+mj-lt"/>
                  <a:ea typeface="+mj-ea"/>
                  <a:cs typeface="+mj-cs"/>
                </a:rPr>
                <a:t>— ONE WORD AT A TIME 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190750" y="3048000"/>
              <a:ext cx="7734300" cy="523875"/>
            </a:xfrm>
            <a:prstGeom prst="rect">
              <a:avLst/>
            </a:prstGeom>
            <a:solidFill>
              <a:srgbClr val="181A2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62122" y="31965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A800"/>
                  </a:solidFill>
                  <a:latin typeface="+mn-lt"/>
                  <a:ea typeface="+mn-ea"/>
                  <a:cs typeface="+mn-cs"/>
                </a:rPr>
                <a:t>让每一个认真背单词的人，都不被残缺的资料辜负。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06852" y="3902392"/>
              <a:ext cx="7702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涵盖 960+ 权威词书 · 国际标准音标 (IPA) · 108 篇新概念讲义 · 欧路/Anki/Quizlet 完美兼容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1372" y="4355306"/>
              <a:ext cx="7473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spc="150" dirty="0">
                  <a:solidFill>
                    <a:srgbClr val="006B7B"/>
                  </a:solidFill>
                  <a:latin typeface="Courier New"/>
                  <a:ea typeface="Courier New"/>
                  <a:cs typeface="Courier New"/>
                </a:rPr>
                <a:t>ARCHIVE SERIAL NO: #2026-ENG-VAULT-960-RELEASE · CC BY-NC-SA 4.0</a:t>
              </a:r>
            </a:p>
          </p:txBody>
        </p:sp>
      </p:grpSp>
      <p:grpSp>
        <p:nvGrpSpPr>
          <p:cNvPr id="33" name="bottom-cta-zone"/>
          <p:cNvGrpSpPr/>
          <p:nvPr/>
        </p:nvGrpSpPr>
        <p:grpSpPr>
          <a:xfrm>
            <a:off x="952500" y="5334000"/>
            <a:ext cx="10191750" cy="1085850"/>
            <a:chOff x="952500" y="5334000"/>
            <a:chExt cx="10191750" cy="1085850"/>
          </a:xfrm>
        </p:grpSpPr>
        <p:grpSp>
          <p:nvGrpSpPr>
            <p:cNvPr id="22" name="cta-star"/>
            <p:cNvGrpSpPr/>
            <p:nvPr/>
          </p:nvGrpSpPr>
          <p:grpSpPr>
            <a:xfrm>
              <a:off x="952500" y="5334000"/>
              <a:ext cx="3086100" cy="1085850"/>
              <a:chOff x="952500" y="5334000"/>
              <a:chExt cx="3086100" cy="10858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90600" y="5372100"/>
                <a:ext cx="3048000" cy="1047750"/>
              </a:xfrm>
              <a:prstGeom prst="rect">
                <a:avLst/>
              </a:prstGeom>
              <a:solidFill>
                <a:srgbClr val="FFA800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52500" y="5334000"/>
                <a:ext cx="3048000" cy="10477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54456" y="5535930"/>
                <a:ext cx="284408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4765"/>
                    </a:solidFill>
                    <a:latin typeface="+mj-lt"/>
                    <a:ea typeface="+mj-ea"/>
                    <a:cs typeface="+mj-cs"/>
                  </a:rPr>
                  <a:t>⭐ STAR REPOSITORY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583398" y="5966460"/>
                <a:ext cx="17862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点亮 Star 支持开源作者</a:t>
                </a:r>
              </a:p>
            </p:txBody>
          </p:sp>
        </p:grpSp>
        <p:grpSp>
          <p:nvGrpSpPr>
            <p:cNvPr id="27" name="cta-open"/>
            <p:cNvGrpSpPr/>
            <p:nvPr/>
          </p:nvGrpSpPr>
          <p:grpSpPr>
            <a:xfrm>
              <a:off x="4572000" y="5334000"/>
              <a:ext cx="3086100" cy="1085850"/>
              <a:chOff x="4572000" y="5334000"/>
              <a:chExt cx="3086100" cy="10858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610100" y="5372100"/>
                <a:ext cx="3048000" cy="1047750"/>
              </a:xfrm>
              <a:prstGeom prst="rect">
                <a:avLst/>
              </a:prstGeom>
              <a:solidFill>
                <a:srgbClr val="006B7B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572000" y="5334000"/>
                <a:ext cx="3048000" cy="10477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689638" y="5535930"/>
                <a:ext cx="281272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006B7B"/>
                    </a:solidFill>
                    <a:latin typeface="+mj-lt"/>
                    <a:ea typeface="+mj-ea"/>
                    <a:cs typeface="+mj-cs"/>
                  </a:rPr>
                  <a:t>100% OPEN SOURCE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103880" y="5966460"/>
                <a:ext cx="19842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无收费套路 · 社区终身共享</a:t>
                </a:r>
              </a:p>
            </p:txBody>
          </p:sp>
        </p:grpSp>
        <p:grpSp>
          <p:nvGrpSpPr>
            <p:cNvPr id="32" name="cta-author"/>
            <p:cNvGrpSpPr/>
            <p:nvPr/>
          </p:nvGrpSpPr>
          <p:grpSpPr>
            <a:xfrm>
              <a:off x="8191500" y="5334000"/>
              <a:ext cx="2952750" cy="1085850"/>
              <a:chOff x="8191500" y="5334000"/>
              <a:chExt cx="2952750" cy="10858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229600" y="5372100"/>
                <a:ext cx="2914650" cy="1047750"/>
              </a:xfrm>
              <a:prstGeom prst="rect">
                <a:avLst/>
              </a:prstGeom>
              <a:solidFill>
                <a:srgbClr val="181A24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8191500" y="5334000"/>
                <a:ext cx="2914650" cy="1047750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181A2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53747" y="5584508"/>
                <a:ext cx="23901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181A24"/>
                    </a:solidFill>
                    <a:latin typeface="+mn-lt"/>
                    <a:ea typeface="+mn-ea"/>
                    <a:cs typeface="+mn-cs"/>
                  </a:rPr>
                  <a:t>Made with ❤️ by Ringi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52087" y="5974556"/>
                <a:ext cx="23934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&amp; Global Community Contributors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glish_vault_riso">
  <a:themeElements>
    <a:clrScheme name="english_vault_ris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nglish_vault_riso">
      <a:majorFont>
        <a:latin typeface="Impact"/>
        <a:ea typeface="Microsoft YaHei"/>
        <a:cs typeface="Impac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iti SC"/>
        <a:ea typeface="Microsoft YaHei"/>
        <a:cs typeface="Heiti SC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_vault_ris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nglish_vault_riso">
  <a:themeElements>
    <a:clrScheme name="english_vault_ris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nglish_vault_riso">
      <a:majorFont>
        <a:latin typeface="Impact"/>
        <a:ea typeface="Microsoft YaHei"/>
        <a:cs typeface="Impac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iti SC"/>
        <a:ea typeface="Microsoft YaHei"/>
        <a:cs typeface="Heiti SC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_vault_ris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2026-09-23T07:23:22Z</dcterms:created>
  <dcterms:modified xsi:type="dcterms:W3CDTF">2026-09-23T07:23:22Z</dcterms:modified>
  <cp:category/>
  <cp:contentStatus/>
</cp:coreProperties>
</file>